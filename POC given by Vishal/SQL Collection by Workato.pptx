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15"/>
  </p:notesMasterIdLst>
  <p:sldIdLst>
    <p:sldId id="256" r:id="rId3"/>
    <p:sldId id="257" r:id="rId4"/>
    <p:sldId id="258" r:id="rId5"/>
    <p:sldId id="266" r:id="rId6"/>
    <p:sldId id="269" r:id="rId7"/>
    <p:sldId id="268" r:id="rId8"/>
    <p:sldId id="260" r:id="rId9"/>
    <p:sldId id="259" r:id="rId10"/>
    <p:sldId id="267" r:id="rId11"/>
    <p:sldId id="264" r:id="rId12"/>
    <p:sldId id="261" r:id="rId13"/>
    <p:sldId id="262" r:id="rId14"/>
  </p:sldIdLst>
  <p:sldSz cx="12192000" cy="6858000"/>
  <p:notesSz cx="6858000" cy="9144000"/>
  <p:embeddedFontLst>
    <p:embeddedFont>
      <p:font typeface="Arial Black" panose="020B0A04020102020204" pitchFamily="34" charset="0"/>
      <p:bold r:id="rId16"/>
    </p:embeddedFont>
    <p:embeddedFont>
      <p:font typeface="Century" panose="02040604050505020304" pitchFamily="18" charset="0"/>
      <p:regular r:id="rId17"/>
    </p:embeddedFont>
    <p:embeddedFont>
      <p:font typeface="Source Sans Pro" panose="020B0503030403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2">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6" roundtripDataSignature="AMtx7micsiaj4SEQkRxTh6q8dhOTRFOv0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32"/>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customschemas.google.com/relationships/presentationmetadata" Target="meta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4.fntdata"/><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Adnan Khan" userId="S::mohdadnan.khan@techygeekhub.com::3e34128d-8c68-429c-946d-c73441189f02" providerId="AD" clId="Web-{806DD1E6-3884-5DB1-3DB5-357CC1B873D2}"/>
    <pc:docChg chg="addSld modSld">
      <pc:chgData name="Mohammad Adnan Khan" userId="S::mohdadnan.khan@techygeekhub.com::3e34128d-8c68-429c-946d-c73441189f02" providerId="AD" clId="Web-{806DD1E6-3884-5DB1-3DB5-357CC1B873D2}" dt="2025-11-21T13:07:15.261" v="101" actId="20577"/>
      <pc:docMkLst>
        <pc:docMk/>
      </pc:docMkLst>
      <pc:sldChg chg="modSp">
        <pc:chgData name="Mohammad Adnan Khan" userId="S::mohdadnan.khan@techygeekhub.com::3e34128d-8c68-429c-946d-c73441189f02" providerId="AD" clId="Web-{806DD1E6-3884-5DB1-3DB5-357CC1B873D2}" dt="2025-11-21T11:43:55.863" v="7" actId="1076"/>
        <pc:sldMkLst>
          <pc:docMk/>
          <pc:sldMk cId="0" sldId="257"/>
        </pc:sldMkLst>
        <pc:spChg chg="mod">
          <ac:chgData name="Mohammad Adnan Khan" userId="S::mohdadnan.khan@techygeekhub.com::3e34128d-8c68-429c-946d-c73441189f02" providerId="AD" clId="Web-{806DD1E6-3884-5DB1-3DB5-357CC1B873D2}" dt="2025-11-21T11:43:55.863" v="7" actId="1076"/>
          <ac:spMkLst>
            <pc:docMk/>
            <pc:sldMk cId="0" sldId="257"/>
            <ac:spMk id="107" creationId="{00000000-0000-0000-0000-000000000000}"/>
          </ac:spMkLst>
        </pc:spChg>
        <pc:picChg chg="mod">
          <ac:chgData name="Mohammad Adnan Khan" userId="S::mohdadnan.khan@techygeekhub.com::3e34128d-8c68-429c-946d-c73441189f02" providerId="AD" clId="Web-{806DD1E6-3884-5DB1-3DB5-357CC1B873D2}" dt="2025-11-21T11:43:00.361" v="1" actId="1076"/>
          <ac:picMkLst>
            <pc:docMk/>
            <pc:sldMk cId="0" sldId="257"/>
            <ac:picMk id="106" creationId="{00000000-0000-0000-0000-000000000000}"/>
          </ac:picMkLst>
        </pc:picChg>
      </pc:sldChg>
      <pc:sldChg chg="modSp">
        <pc:chgData name="Mohammad Adnan Khan" userId="S::mohdadnan.khan@techygeekhub.com::3e34128d-8c68-429c-946d-c73441189f02" providerId="AD" clId="Web-{806DD1E6-3884-5DB1-3DB5-357CC1B873D2}" dt="2025-11-21T13:02:53.385" v="61" actId="20577"/>
        <pc:sldMkLst>
          <pc:docMk/>
          <pc:sldMk cId="0" sldId="258"/>
        </pc:sldMkLst>
        <pc:spChg chg="mod">
          <ac:chgData name="Mohammad Adnan Khan" userId="S::mohdadnan.khan@techygeekhub.com::3e34128d-8c68-429c-946d-c73441189f02" providerId="AD" clId="Web-{806DD1E6-3884-5DB1-3DB5-357CC1B873D2}" dt="2025-11-21T13:02:53.385" v="61" actId="20577"/>
          <ac:spMkLst>
            <pc:docMk/>
            <pc:sldMk cId="0" sldId="258"/>
            <ac:spMk id="3" creationId="{06F7A4B2-3637-E21C-3A7E-7B6F7AF5D46B}"/>
          </ac:spMkLst>
        </pc:spChg>
        <pc:spChg chg="mod">
          <ac:chgData name="Mohammad Adnan Khan" userId="S::mohdadnan.khan@techygeekhub.com::3e34128d-8c68-429c-946d-c73441189f02" providerId="AD" clId="Web-{806DD1E6-3884-5DB1-3DB5-357CC1B873D2}" dt="2025-11-21T12:53:00.608" v="13" actId="1076"/>
          <ac:spMkLst>
            <pc:docMk/>
            <pc:sldMk cId="0" sldId="258"/>
            <ac:spMk id="113" creationId="{00000000-0000-0000-0000-000000000000}"/>
          </ac:spMkLst>
        </pc:spChg>
      </pc:sldChg>
      <pc:sldChg chg="modSp">
        <pc:chgData name="Mohammad Adnan Khan" userId="S::mohdadnan.khan@techygeekhub.com::3e34128d-8c68-429c-946d-c73441189f02" providerId="AD" clId="Web-{806DD1E6-3884-5DB1-3DB5-357CC1B873D2}" dt="2025-11-21T13:07:15.261" v="101" actId="20577"/>
        <pc:sldMkLst>
          <pc:docMk/>
          <pc:sldMk cId="0" sldId="260"/>
        </pc:sldMkLst>
        <pc:spChg chg="mod">
          <ac:chgData name="Mohammad Adnan Khan" userId="S::mohdadnan.khan@techygeekhub.com::3e34128d-8c68-429c-946d-c73441189f02" providerId="AD" clId="Web-{806DD1E6-3884-5DB1-3DB5-357CC1B873D2}" dt="2025-11-21T13:07:15.261" v="101" actId="20577"/>
          <ac:spMkLst>
            <pc:docMk/>
            <pc:sldMk cId="0" sldId="260"/>
            <ac:spMk id="3" creationId="{C376B652-3006-5496-8389-CDDF56DAC918}"/>
          </ac:spMkLst>
        </pc:spChg>
        <pc:spChg chg="mod">
          <ac:chgData name="Mohammad Adnan Khan" userId="S::mohdadnan.khan@techygeekhub.com::3e34128d-8c68-429c-946d-c73441189f02" providerId="AD" clId="Web-{806DD1E6-3884-5DB1-3DB5-357CC1B873D2}" dt="2025-11-21T13:07:13.620" v="99" actId="20577"/>
          <ac:spMkLst>
            <pc:docMk/>
            <pc:sldMk cId="0" sldId="260"/>
            <ac:spMk id="127" creationId="{00000000-0000-0000-0000-000000000000}"/>
          </ac:spMkLst>
        </pc:spChg>
      </pc:sldChg>
      <pc:sldChg chg="modSp">
        <pc:chgData name="Mohammad Adnan Khan" userId="S::mohdadnan.khan@techygeekhub.com::3e34128d-8c68-429c-946d-c73441189f02" providerId="AD" clId="Web-{806DD1E6-3884-5DB1-3DB5-357CC1B873D2}" dt="2025-11-21T13:00:48.568" v="40" actId="14100"/>
        <pc:sldMkLst>
          <pc:docMk/>
          <pc:sldMk cId="2676741130" sldId="266"/>
        </pc:sldMkLst>
        <pc:spChg chg="mod">
          <ac:chgData name="Mohammad Adnan Khan" userId="S::mohdadnan.khan@techygeekhub.com::3e34128d-8c68-429c-946d-c73441189f02" providerId="AD" clId="Web-{806DD1E6-3884-5DB1-3DB5-357CC1B873D2}" dt="2025-11-21T13:00:48.568" v="40" actId="14100"/>
          <ac:spMkLst>
            <pc:docMk/>
            <pc:sldMk cId="2676741130" sldId="266"/>
            <ac:spMk id="3" creationId="{E4D7B9FF-A94D-6F7E-D7C5-ECB3E315BABE}"/>
          </ac:spMkLst>
        </pc:spChg>
        <pc:spChg chg="mod">
          <ac:chgData name="Mohammad Adnan Khan" userId="S::mohdadnan.khan@techygeekhub.com::3e34128d-8c68-429c-946d-c73441189f02" providerId="AD" clId="Web-{806DD1E6-3884-5DB1-3DB5-357CC1B873D2}" dt="2025-11-21T12:54:13.858" v="14" actId="20577"/>
          <ac:spMkLst>
            <pc:docMk/>
            <pc:sldMk cId="2676741130" sldId="266"/>
            <ac:spMk id="113" creationId="{2554A6B3-4843-97A4-945B-DF79731063EA}"/>
          </ac:spMkLst>
        </pc:spChg>
      </pc:sldChg>
      <pc:sldChg chg="modSp">
        <pc:chgData name="Mohammad Adnan Khan" userId="S::mohdadnan.khan@techygeekhub.com::3e34128d-8c68-429c-946d-c73441189f02" providerId="AD" clId="Web-{806DD1E6-3884-5DB1-3DB5-357CC1B873D2}" dt="2025-11-21T13:06:40.636" v="97" actId="20577"/>
        <pc:sldMkLst>
          <pc:docMk/>
          <pc:sldMk cId="378446187" sldId="268"/>
        </pc:sldMkLst>
        <pc:spChg chg="mod">
          <ac:chgData name="Mohammad Adnan Khan" userId="S::mohdadnan.khan@techygeekhub.com::3e34128d-8c68-429c-946d-c73441189f02" providerId="AD" clId="Web-{806DD1E6-3884-5DB1-3DB5-357CC1B873D2}" dt="2025-11-21T13:05:31.807" v="87" actId="20577"/>
          <ac:spMkLst>
            <pc:docMk/>
            <pc:sldMk cId="378446187" sldId="268"/>
            <ac:spMk id="3" creationId="{C24B2B0B-CCBB-D717-669C-761CFE966603}"/>
          </ac:spMkLst>
        </pc:spChg>
        <pc:spChg chg="mod">
          <ac:chgData name="Mohammad Adnan Khan" userId="S::mohdadnan.khan@techygeekhub.com::3e34128d-8c68-429c-946d-c73441189f02" providerId="AD" clId="Web-{806DD1E6-3884-5DB1-3DB5-357CC1B873D2}" dt="2025-11-21T13:06:40.636" v="97" actId="20577"/>
          <ac:spMkLst>
            <pc:docMk/>
            <pc:sldMk cId="378446187" sldId="268"/>
            <ac:spMk id="127" creationId="{0B1B415F-3CEE-1233-785F-23A55C83F915}"/>
          </ac:spMkLst>
        </pc:spChg>
      </pc:sldChg>
      <pc:sldChg chg="modSp add replId">
        <pc:chgData name="Mohammad Adnan Khan" userId="S::mohdadnan.khan@techygeekhub.com::3e34128d-8c68-429c-946d-c73441189f02" providerId="AD" clId="Web-{806DD1E6-3884-5DB1-3DB5-357CC1B873D2}" dt="2025-11-21T13:06:07.182" v="89" actId="20577"/>
        <pc:sldMkLst>
          <pc:docMk/>
          <pc:sldMk cId="1741603013" sldId="269"/>
        </pc:sldMkLst>
        <pc:spChg chg="mod">
          <ac:chgData name="Mohammad Adnan Khan" userId="S::mohdadnan.khan@techygeekhub.com::3e34128d-8c68-429c-946d-c73441189f02" providerId="AD" clId="Web-{806DD1E6-3884-5DB1-3DB5-357CC1B873D2}" dt="2025-11-21T13:02:25.884" v="54" actId="20577"/>
          <ac:spMkLst>
            <pc:docMk/>
            <pc:sldMk cId="1741603013" sldId="269"/>
            <ac:spMk id="3" creationId="{E4536E95-8942-AD57-EA77-9CD169C6129B}"/>
          </ac:spMkLst>
        </pc:spChg>
        <pc:spChg chg="mod">
          <ac:chgData name="Mohammad Adnan Khan" userId="S::mohdadnan.khan@techygeekhub.com::3e34128d-8c68-429c-946d-c73441189f02" providerId="AD" clId="Web-{806DD1E6-3884-5DB1-3DB5-357CC1B873D2}" dt="2025-11-21T13:06:07.182" v="89" actId="20577"/>
          <ac:spMkLst>
            <pc:docMk/>
            <pc:sldMk cId="1741603013" sldId="269"/>
            <ac:spMk id="113" creationId="{33A6347F-3E34-BA7F-1FB8-DCCAB6A19F66}"/>
          </ac:spMkLst>
        </pc:spChg>
      </pc:sldChg>
    </pc:docChg>
  </pc:docChgLst>
  <pc:docChgLst>
    <pc:chgData name="Dev Chaudhary" userId="S::dev.chaudhary@techygeekhub.com::5c493bc7-69db-4642-b23a-04f4c693ddba" providerId="AD" clId="Web-{DB91CE2B-95EF-943A-3170-9C0C43F72CFC}"/>
    <pc:docChg chg="modSld">
      <pc:chgData name="Dev Chaudhary" userId="S::dev.chaudhary@techygeekhub.com::5c493bc7-69db-4642-b23a-04f4c693ddba" providerId="AD" clId="Web-{DB91CE2B-95EF-943A-3170-9C0C43F72CFC}" dt="2025-11-22T06:08:28.041" v="687" actId="20577"/>
      <pc:docMkLst>
        <pc:docMk/>
      </pc:docMkLst>
      <pc:sldChg chg="modSp">
        <pc:chgData name="Dev Chaudhary" userId="S::dev.chaudhary@techygeekhub.com::5c493bc7-69db-4642-b23a-04f4c693ddba" providerId="AD" clId="Web-{DB91CE2B-95EF-943A-3170-9C0C43F72CFC}" dt="2025-11-22T06:08:28.041" v="687" actId="20577"/>
        <pc:sldMkLst>
          <pc:docMk/>
          <pc:sldMk cId="0" sldId="257"/>
        </pc:sldMkLst>
        <pc:spChg chg="mod">
          <ac:chgData name="Dev Chaudhary" userId="S::dev.chaudhary@techygeekhub.com::5c493bc7-69db-4642-b23a-04f4c693ddba" providerId="AD" clId="Web-{DB91CE2B-95EF-943A-3170-9C0C43F72CFC}" dt="2025-11-22T06:08:28.041" v="687" actId="20577"/>
          <ac:spMkLst>
            <pc:docMk/>
            <pc:sldMk cId="0" sldId="257"/>
            <ac:spMk id="107" creationId="{00000000-0000-0000-0000-000000000000}"/>
          </ac:spMkLst>
        </pc:spChg>
      </pc:sldChg>
      <pc:sldChg chg="modSp">
        <pc:chgData name="Dev Chaudhary" userId="S::dev.chaudhary@techygeekhub.com::5c493bc7-69db-4642-b23a-04f4c693ddba" providerId="AD" clId="Web-{DB91CE2B-95EF-943A-3170-9C0C43F72CFC}" dt="2025-11-22T05:55:47.388" v="502" actId="20577"/>
        <pc:sldMkLst>
          <pc:docMk/>
          <pc:sldMk cId="0" sldId="258"/>
        </pc:sldMkLst>
        <pc:spChg chg="mod">
          <ac:chgData name="Dev Chaudhary" userId="S::dev.chaudhary@techygeekhub.com::5c493bc7-69db-4642-b23a-04f4c693ddba" providerId="AD" clId="Web-{DB91CE2B-95EF-943A-3170-9C0C43F72CFC}" dt="2025-11-22T05:55:47.388" v="502" actId="20577"/>
          <ac:spMkLst>
            <pc:docMk/>
            <pc:sldMk cId="0" sldId="258"/>
            <ac:spMk id="3" creationId="{06F7A4B2-3637-E21C-3A7E-7B6F7AF5D46B}"/>
          </ac:spMkLst>
        </pc:spChg>
      </pc:sldChg>
      <pc:sldChg chg="modSp">
        <pc:chgData name="Dev Chaudhary" userId="S::dev.chaudhary@techygeekhub.com::5c493bc7-69db-4642-b23a-04f4c693ddba" providerId="AD" clId="Web-{DB91CE2B-95EF-943A-3170-9C0C43F72CFC}" dt="2025-11-22T06:08:03.509" v="675" actId="20577"/>
        <pc:sldMkLst>
          <pc:docMk/>
          <pc:sldMk cId="2676741130" sldId="266"/>
        </pc:sldMkLst>
        <pc:spChg chg="mod">
          <ac:chgData name="Dev Chaudhary" userId="S::dev.chaudhary@techygeekhub.com::5c493bc7-69db-4642-b23a-04f4c693ddba" providerId="AD" clId="Web-{DB91CE2B-95EF-943A-3170-9C0C43F72CFC}" dt="2025-11-22T06:08:03.509" v="675" actId="20577"/>
          <ac:spMkLst>
            <pc:docMk/>
            <pc:sldMk cId="2676741130" sldId="266"/>
            <ac:spMk id="3" creationId="{E4D7B9FF-A94D-6F7E-D7C5-ECB3E315BABE}"/>
          </ac:spMkLst>
        </pc:spChg>
        <pc:spChg chg="mod">
          <ac:chgData name="Dev Chaudhary" userId="S::dev.chaudhary@techygeekhub.com::5c493bc7-69db-4642-b23a-04f4c693ddba" providerId="AD" clId="Web-{DB91CE2B-95EF-943A-3170-9C0C43F72CFC}" dt="2025-11-22T05:56:11.138" v="535" actId="14100"/>
          <ac:spMkLst>
            <pc:docMk/>
            <pc:sldMk cId="2676741130" sldId="266"/>
            <ac:spMk id="113" creationId="{2554A6B3-4843-97A4-945B-DF79731063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CD3C942-56DA-F275-E09D-233E557648CF}"/>
            </a:ext>
          </a:extLst>
        </p:cNvPr>
        <p:cNvGrpSpPr/>
        <p:nvPr/>
      </p:nvGrpSpPr>
      <p:grpSpPr>
        <a:xfrm>
          <a:off x="0" y="0"/>
          <a:ext cx="0" cy="0"/>
          <a:chOff x="0" y="0"/>
          <a:chExt cx="0" cy="0"/>
        </a:xfrm>
      </p:grpSpPr>
      <p:sp>
        <p:nvSpPr>
          <p:cNvPr id="109" name="Google Shape;109;p4:notes">
            <a:extLst>
              <a:ext uri="{FF2B5EF4-FFF2-40B4-BE49-F238E27FC236}">
                <a16:creationId xmlns:a16="http://schemas.microsoft.com/office/drawing/2014/main" id="{63E27EE5-76BB-E959-D84A-311AAE507F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a:extLst>
              <a:ext uri="{FF2B5EF4-FFF2-40B4-BE49-F238E27FC236}">
                <a16:creationId xmlns:a16="http://schemas.microsoft.com/office/drawing/2014/main" id="{CD8279F9-CDEB-2490-B565-04F5FFBD62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380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C805398-CF97-CBC4-0792-9925EFC6C989}"/>
            </a:ext>
          </a:extLst>
        </p:cNvPr>
        <p:cNvGrpSpPr/>
        <p:nvPr/>
      </p:nvGrpSpPr>
      <p:grpSpPr>
        <a:xfrm>
          <a:off x="0" y="0"/>
          <a:ext cx="0" cy="0"/>
          <a:chOff x="0" y="0"/>
          <a:chExt cx="0" cy="0"/>
        </a:xfrm>
      </p:grpSpPr>
      <p:sp>
        <p:nvSpPr>
          <p:cNvPr id="109" name="Google Shape;109;p4:notes">
            <a:extLst>
              <a:ext uri="{FF2B5EF4-FFF2-40B4-BE49-F238E27FC236}">
                <a16:creationId xmlns:a16="http://schemas.microsoft.com/office/drawing/2014/main" id="{515BD311-8426-31BA-39EA-B00A48ADDC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a:extLst>
              <a:ext uri="{FF2B5EF4-FFF2-40B4-BE49-F238E27FC236}">
                <a16:creationId xmlns:a16="http://schemas.microsoft.com/office/drawing/2014/main" id="{5CB4AF1C-9ABD-0E6A-08C0-37F6F7A28B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0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8047EEC9-1682-7E84-04A8-669EF128DEB7}"/>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104AF094-BF32-DB57-2635-649FF43191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85412FF4-FA7B-3E6A-17C1-722B94E858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485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9637FB90-E28A-9EFC-A9CF-EBA903A63BB4}"/>
            </a:ext>
          </a:extLst>
        </p:cNvPr>
        <p:cNvGrpSpPr/>
        <p:nvPr/>
      </p:nvGrpSpPr>
      <p:grpSpPr>
        <a:xfrm>
          <a:off x="0" y="0"/>
          <a:ext cx="0" cy="0"/>
          <a:chOff x="0" y="0"/>
          <a:chExt cx="0" cy="0"/>
        </a:xfrm>
      </p:grpSpPr>
      <p:sp>
        <p:nvSpPr>
          <p:cNvPr id="116" name="Google Shape;116;p5:notes">
            <a:extLst>
              <a:ext uri="{FF2B5EF4-FFF2-40B4-BE49-F238E27FC236}">
                <a16:creationId xmlns:a16="http://schemas.microsoft.com/office/drawing/2014/main" id="{0A670A5F-5A61-6640-C5D1-23791507D3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a:extLst>
              <a:ext uri="{FF2B5EF4-FFF2-40B4-BE49-F238E27FC236}">
                <a16:creationId xmlns:a16="http://schemas.microsoft.com/office/drawing/2014/main" id="{E4AE9AF8-CD01-2083-5F7B-FD6847B0DC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065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34D9082-F9C3-B776-FD89-791150ED0957}"/>
            </a:ext>
          </a:extLst>
        </p:cNvPr>
        <p:cNvGrpSpPr/>
        <p:nvPr/>
      </p:nvGrpSpPr>
      <p:grpSpPr>
        <a:xfrm>
          <a:off x="0" y="0"/>
          <a:ext cx="0" cy="0"/>
          <a:chOff x="0" y="0"/>
          <a:chExt cx="0" cy="0"/>
        </a:xfrm>
      </p:grpSpPr>
      <p:sp>
        <p:nvSpPr>
          <p:cNvPr id="116" name="Google Shape;116;p5:notes">
            <a:extLst>
              <a:ext uri="{FF2B5EF4-FFF2-40B4-BE49-F238E27FC236}">
                <a16:creationId xmlns:a16="http://schemas.microsoft.com/office/drawing/2014/main" id="{FA2A9D8D-FB09-B477-F024-C92DE411C2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a:extLst>
              <a:ext uri="{FF2B5EF4-FFF2-40B4-BE49-F238E27FC236}">
                <a16:creationId xmlns:a16="http://schemas.microsoft.com/office/drawing/2014/main" id="{44D4063E-FA26-186D-6180-5F494D4D6D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870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
        <p:nvSpPr>
          <p:cNvPr id="11" name="Google Shape;11;p1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4"/>
        <p:cNvGrpSpPr/>
        <p:nvPr/>
      </p:nvGrpSpPr>
      <p:grpSpPr>
        <a:xfrm>
          <a:off x="0" y="0"/>
          <a:ext cx="0" cy="0"/>
          <a:chOff x="0" y="0"/>
          <a:chExt cx="0" cy="0"/>
        </a:xfrm>
      </p:grpSpPr>
      <p:sp>
        <p:nvSpPr>
          <p:cNvPr id="15" name="Google Shape;15;p13"/>
          <p:cNvSpPr txBox="1">
            <a:spLocks noGrp="1"/>
          </p:cNvSpPr>
          <p:nvPr>
            <p:ph type="sldNum" idx="12"/>
          </p:nvPr>
        </p:nvSpPr>
        <p:spPr>
          <a:xfrm>
            <a:off x="4724400" y="6443285"/>
            <a:ext cx="2743200" cy="365125"/>
          </a:xfrm>
          <a:prstGeom prst="rect">
            <a:avLst/>
          </a:prstGeom>
          <a:noFill/>
          <a:ln>
            <a:noFill/>
          </a:ln>
        </p:spPr>
        <p:txBody>
          <a:bodyPr spcFirstLastPara="1" wrap="square" lIns="91425" tIns="45700" rIns="91425" bIns="45700" anchor="t" anchorCtr="0">
            <a:noAutofit/>
          </a:bodyPr>
          <a:lstStyle>
            <a:lvl1pPr marL="0" marR="0" lvl="0" indent="0" algn="ctr" rtl="0">
              <a:spcBef>
                <a:spcPts val="0"/>
              </a:spcBef>
              <a:buNone/>
              <a:defRPr sz="1200">
                <a:solidFill>
                  <a:schemeClr val="dk1"/>
                </a:solidFill>
                <a:latin typeface="Calibri"/>
                <a:ea typeface="Calibri"/>
                <a:cs typeface="Calibri"/>
                <a:sym typeface="Calibri"/>
              </a:defRPr>
            </a:lvl1pPr>
            <a:lvl2pPr marL="0" marR="0" lvl="1" indent="0" algn="ctr" rtl="0">
              <a:spcBef>
                <a:spcPts val="0"/>
              </a:spcBef>
              <a:buNone/>
              <a:defRPr sz="1200">
                <a:solidFill>
                  <a:schemeClr val="dk1"/>
                </a:solidFill>
                <a:latin typeface="Calibri"/>
                <a:ea typeface="Calibri"/>
                <a:cs typeface="Calibri"/>
                <a:sym typeface="Calibri"/>
              </a:defRPr>
            </a:lvl2pPr>
            <a:lvl3pPr marL="0" marR="0" lvl="2" indent="0" algn="ctr" rtl="0">
              <a:spcBef>
                <a:spcPts val="0"/>
              </a:spcBef>
              <a:buNone/>
              <a:defRPr sz="1200">
                <a:solidFill>
                  <a:schemeClr val="dk1"/>
                </a:solidFill>
                <a:latin typeface="Calibri"/>
                <a:ea typeface="Calibri"/>
                <a:cs typeface="Calibri"/>
                <a:sym typeface="Calibri"/>
              </a:defRPr>
            </a:lvl3pPr>
            <a:lvl4pPr marL="0" marR="0" lvl="3" indent="0" algn="ctr" rtl="0">
              <a:spcBef>
                <a:spcPts val="0"/>
              </a:spcBef>
              <a:buNone/>
              <a:defRPr sz="1200">
                <a:solidFill>
                  <a:schemeClr val="dk1"/>
                </a:solidFill>
                <a:latin typeface="Calibri"/>
                <a:ea typeface="Calibri"/>
                <a:cs typeface="Calibri"/>
                <a:sym typeface="Calibri"/>
              </a:defRPr>
            </a:lvl4pPr>
            <a:lvl5pPr marL="0" marR="0" lvl="4" indent="0" algn="ctr" rtl="0">
              <a:spcBef>
                <a:spcPts val="0"/>
              </a:spcBef>
              <a:buNone/>
              <a:defRPr sz="1200">
                <a:solidFill>
                  <a:schemeClr val="dk1"/>
                </a:solidFill>
                <a:latin typeface="Calibri"/>
                <a:ea typeface="Calibri"/>
                <a:cs typeface="Calibri"/>
                <a:sym typeface="Calibri"/>
              </a:defRPr>
            </a:lvl5pPr>
            <a:lvl6pPr marL="0" marR="0" lvl="5" indent="0" algn="ctr" rtl="0">
              <a:spcBef>
                <a:spcPts val="0"/>
              </a:spcBef>
              <a:buNone/>
              <a:defRPr sz="1200">
                <a:solidFill>
                  <a:schemeClr val="dk1"/>
                </a:solidFill>
                <a:latin typeface="Calibri"/>
                <a:ea typeface="Calibri"/>
                <a:cs typeface="Calibri"/>
                <a:sym typeface="Calibri"/>
              </a:defRPr>
            </a:lvl6pPr>
            <a:lvl7pPr marL="0" marR="0" lvl="6" indent="0" algn="ctr" rtl="0">
              <a:spcBef>
                <a:spcPts val="0"/>
              </a:spcBef>
              <a:buNone/>
              <a:defRPr sz="1200">
                <a:solidFill>
                  <a:schemeClr val="dk1"/>
                </a:solidFill>
                <a:latin typeface="Calibri"/>
                <a:ea typeface="Calibri"/>
                <a:cs typeface="Calibri"/>
                <a:sym typeface="Calibri"/>
              </a:defRPr>
            </a:lvl7pPr>
            <a:lvl8pPr marL="0" marR="0" lvl="7" indent="0" algn="ctr" rtl="0">
              <a:spcBef>
                <a:spcPts val="0"/>
              </a:spcBef>
              <a:buNone/>
              <a:defRPr sz="1200">
                <a:solidFill>
                  <a:schemeClr val="dk1"/>
                </a:solidFill>
                <a:latin typeface="Calibri"/>
                <a:ea typeface="Calibri"/>
                <a:cs typeface="Calibri"/>
                <a:sym typeface="Calibri"/>
              </a:defRPr>
            </a:lvl8pPr>
            <a:lvl9pPr marL="0" marR="0" lvl="8" indent="0" algn="ctr" rtl="0">
              <a:spcBef>
                <a:spcPts val="0"/>
              </a:spcBef>
              <a:buNone/>
              <a:defRPr sz="1200">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pic>
        <p:nvPicPr>
          <p:cNvPr id="16" name="Google Shape;16;p13"/>
          <p:cNvPicPr preferRelativeResize="0"/>
          <p:nvPr/>
        </p:nvPicPr>
        <p:blipFill rotWithShape="1">
          <a:blip r:embed="rId2">
            <a:alphaModFix/>
          </a:blip>
          <a:srcRect/>
          <a:stretch/>
        </p:blipFill>
        <p:spPr>
          <a:xfrm>
            <a:off x="9243964" y="6377930"/>
            <a:ext cx="2781837" cy="495837"/>
          </a:xfrm>
          <a:prstGeom prst="rect">
            <a:avLst/>
          </a:prstGeom>
          <a:noFill/>
          <a:ln>
            <a:noFill/>
          </a:ln>
        </p:spPr>
      </p:pic>
      <p:sp>
        <p:nvSpPr>
          <p:cNvPr id="17" name="Google Shape;17;p13"/>
          <p:cNvSpPr/>
          <p:nvPr/>
        </p:nvSpPr>
        <p:spPr>
          <a:xfrm rot="10800000" flipH="1">
            <a:off x="-2190750" y="6243508"/>
            <a:ext cx="16573500" cy="189798"/>
          </a:xfrm>
          <a:prstGeom prst="mathMinus">
            <a:avLst>
              <a:gd name="adj1" fmla="val 38905"/>
            </a:avLst>
          </a:prstGeom>
          <a:gradFill>
            <a:gsLst>
              <a:gs pos="0">
                <a:srgbClr val="3F739B"/>
              </a:gs>
              <a:gs pos="21000">
                <a:srgbClr val="3F739B"/>
              </a:gs>
              <a:gs pos="41000">
                <a:srgbClr val="F4B469"/>
              </a:gs>
              <a:gs pos="100000">
                <a:srgbClr val="F4B469"/>
              </a:gs>
            </a:gsLst>
            <a:lin ang="0" scaled="0"/>
          </a:gradFill>
          <a:ln w="12700" cap="flat" cmpd="sng">
            <a:solidFill>
              <a:srgbClr val="A65F0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14"/>
          <p:cNvSpPr txBox="1">
            <a:spLocks noGrp="1"/>
          </p:cNvSpPr>
          <p:nvPr>
            <p:ph type="body" idx="1"/>
          </p:nvPr>
        </p:nvSpPr>
        <p:spPr>
          <a:xfrm>
            <a:off x="0" y="1027906"/>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tle_3">
  <p:cSld name="Tittle_3">
    <p:spTree>
      <p:nvGrpSpPr>
        <p:cNvPr id="1" name="Shape 29"/>
        <p:cNvGrpSpPr/>
        <p:nvPr/>
      </p:nvGrpSpPr>
      <p:grpSpPr>
        <a:xfrm>
          <a:off x="0" y="0"/>
          <a:ext cx="0" cy="0"/>
          <a:chOff x="0" y="0"/>
          <a:chExt cx="0" cy="0"/>
        </a:xfrm>
      </p:grpSpPr>
      <p:pic>
        <p:nvPicPr>
          <p:cNvPr id="30" name="Google Shape;30;p16"/>
          <p:cNvPicPr preferRelativeResize="0"/>
          <p:nvPr/>
        </p:nvPicPr>
        <p:blipFill rotWithShape="1">
          <a:blip r:embed="rId2">
            <a:alphaModFix/>
          </a:blip>
          <a:srcRect/>
          <a:stretch/>
        </p:blipFill>
        <p:spPr>
          <a:xfrm>
            <a:off x="0" y="0"/>
            <a:ext cx="12192000" cy="6830427"/>
          </a:xfrm>
          <a:prstGeom prst="rect">
            <a:avLst/>
          </a:prstGeom>
          <a:noFill/>
          <a:ln>
            <a:noFill/>
          </a:ln>
        </p:spPr>
      </p:pic>
      <p:sp>
        <p:nvSpPr>
          <p:cNvPr id="31" name="Google Shape;31;p16"/>
          <p:cNvSpPr/>
          <p:nvPr/>
        </p:nvSpPr>
        <p:spPr>
          <a:xfrm flipH="1">
            <a:off x="5894362" y="576775"/>
            <a:ext cx="6297637" cy="6253652"/>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2" name="Google Shape;32;p16"/>
          <p:cNvPicPr preferRelativeResize="0"/>
          <p:nvPr/>
        </p:nvPicPr>
        <p:blipFill rotWithShape="1">
          <a:blip r:embed="rId3">
            <a:alphaModFix/>
          </a:blip>
          <a:srcRect/>
          <a:stretch/>
        </p:blipFill>
        <p:spPr>
          <a:xfrm>
            <a:off x="8398413" y="4442309"/>
            <a:ext cx="3793588" cy="20851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3"/>
        <p:cNvGrpSpPr/>
        <p:nvPr/>
      </p:nvGrpSpPr>
      <p:grpSpPr>
        <a:xfrm>
          <a:off x="0" y="0"/>
          <a:ext cx="0" cy="0"/>
          <a:chOff x="0" y="0"/>
          <a:chExt cx="0" cy="0"/>
        </a:xfrm>
      </p:grpSpPr>
      <p:pic>
        <p:nvPicPr>
          <p:cNvPr id="34" name="Google Shape;34;p17"/>
          <p:cNvPicPr preferRelativeResize="0"/>
          <p:nvPr/>
        </p:nvPicPr>
        <p:blipFill rotWithShape="1">
          <a:blip r:embed="rId2">
            <a:alphaModFix/>
          </a:blip>
          <a:srcRect/>
          <a:stretch/>
        </p:blipFill>
        <p:spPr>
          <a:xfrm>
            <a:off x="-1" y="-1"/>
            <a:ext cx="12192000" cy="6843191"/>
          </a:xfrm>
          <a:prstGeom prst="rect">
            <a:avLst/>
          </a:prstGeom>
          <a:noFill/>
          <a:ln>
            <a:noFill/>
          </a:ln>
        </p:spPr>
      </p:pic>
      <p:sp>
        <p:nvSpPr>
          <p:cNvPr id="35" name="Google Shape;35;p17"/>
          <p:cNvSpPr/>
          <p:nvPr/>
        </p:nvSpPr>
        <p:spPr>
          <a:xfrm flipH="1">
            <a:off x="5894362" y="576775"/>
            <a:ext cx="6297637" cy="6253652"/>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6" name="Google Shape;36;p17"/>
          <p:cNvPicPr preferRelativeResize="0"/>
          <p:nvPr/>
        </p:nvPicPr>
        <p:blipFill rotWithShape="1">
          <a:blip r:embed="rId3">
            <a:alphaModFix/>
          </a:blip>
          <a:srcRect/>
          <a:stretch/>
        </p:blipFill>
        <p:spPr>
          <a:xfrm>
            <a:off x="8398413" y="4442309"/>
            <a:ext cx="3793588" cy="20851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lide">
  <p:cSld name="TitleSlide">
    <p:spTree>
      <p:nvGrpSpPr>
        <p:cNvPr id="1" name="Shape 37"/>
        <p:cNvGrpSpPr/>
        <p:nvPr/>
      </p:nvGrpSpPr>
      <p:grpSpPr>
        <a:xfrm>
          <a:off x="0" y="0"/>
          <a:ext cx="0" cy="0"/>
          <a:chOff x="0" y="0"/>
          <a:chExt cx="0" cy="0"/>
        </a:xfrm>
      </p:grpSpPr>
      <p:pic>
        <p:nvPicPr>
          <p:cNvPr id="38" name="Google Shape;38;p18"/>
          <p:cNvPicPr preferRelativeResize="0"/>
          <p:nvPr/>
        </p:nvPicPr>
        <p:blipFill rotWithShape="1">
          <a:blip r:embed="rId2">
            <a:alphaModFix/>
          </a:blip>
          <a:srcRect/>
          <a:stretch/>
        </p:blipFill>
        <p:spPr>
          <a:xfrm>
            <a:off x="0" y="25395"/>
            <a:ext cx="12192000" cy="6832605"/>
          </a:xfrm>
          <a:prstGeom prst="rect">
            <a:avLst/>
          </a:prstGeom>
          <a:noFill/>
          <a:ln>
            <a:noFill/>
          </a:ln>
        </p:spPr>
      </p:pic>
      <p:sp>
        <p:nvSpPr>
          <p:cNvPr id="39" name="Google Shape;39;p18"/>
          <p:cNvSpPr/>
          <p:nvPr/>
        </p:nvSpPr>
        <p:spPr>
          <a:xfrm flipH="1">
            <a:off x="5894362" y="25395"/>
            <a:ext cx="6297637" cy="6832605"/>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 name="Google Shape;40;p18"/>
          <p:cNvPicPr preferRelativeResize="0"/>
          <p:nvPr/>
        </p:nvPicPr>
        <p:blipFill rotWithShape="1">
          <a:blip r:embed="rId3">
            <a:alphaModFix/>
          </a:blip>
          <a:srcRect/>
          <a:stretch/>
        </p:blipFill>
        <p:spPr>
          <a:xfrm>
            <a:off x="7392473" y="5237442"/>
            <a:ext cx="4799527" cy="1620558"/>
          </a:xfrm>
          <a:prstGeom prst="rect">
            <a:avLst/>
          </a:prstGeom>
          <a:noFill/>
          <a:ln>
            <a:noFill/>
          </a:ln>
        </p:spPr>
      </p:pic>
      <p:sp>
        <p:nvSpPr>
          <p:cNvPr id="41" name="Google Shape;41;p18"/>
          <p:cNvSpPr txBox="1"/>
          <p:nvPr/>
        </p:nvSpPr>
        <p:spPr>
          <a:xfrm>
            <a:off x="5709633" y="631163"/>
            <a:ext cx="3047627" cy="40782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BE6DC"/>
              </a:buClr>
              <a:buSzPts val="2000"/>
              <a:buFont typeface="Calibri"/>
              <a:buNone/>
            </a:pPr>
            <a:r>
              <a:rPr lang="en-US" sz="2000">
                <a:solidFill>
                  <a:srgbClr val="EBE6DC"/>
                </a:solidFill>
                <a:latin typeface="Calibri"/>
                <a:ea typeface="Calibri"/>
                <a:cs typeface="Calibri"/>
                <a:sym typeface="Calibri"/>
              </a:rPr>
              <a:t>Making Integration Easier…</a:t>
            </a:r>
            <a:endParaRPr sz="2000">
              <a:solidFill>
                <a:srgbClr val="EBE6DC"/>
              </a:solidFill>
              <a:latin typeface="Calibri"/>
              <a:ea typeface="Calibri"/>
              <a:cs typeface="Calibri"/>
              <a:sym typeface="Calibri"/>
            </a:endParaRPr>
          </a:p>
        </p:txBody>
      </p:sp>
      <p:sp>
        <p:nvSpPr>
          <p:cNvPr id="42" name="Google Shape;42;p18"/>
          <p:cNvSpPr txBox="1"/>
          <p:nvPr/>
        </p:nvSpPr>
        <p:spPr>
          <a:xfrm>
            <a:off x="4550535" y="0"/>
            <a:ext cx="428829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rgbClr val="FBE6CC"/>
                </a:solidFill>
                <a:latin typeface="Calibri"/>
                <a:ea typeface="Calibri"/>
                <a:cs typeface="Calibri"/>
                <a:sym typeface="Calibri"/>
              </a:rPr>
              <a:t>TECHY GEEK HUB</a:t>
            </a:r>
            <a:endParaRPr sz="4400">
              <a:solidFill>
                <a:srgbClr val="FBE6CC"/>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43"/>
        <p:cNvGrpSpPr/>
        <p:nvPr/>
      </p:nvGrpSpPr>
      <p:grpSpPr>
        <a:xfrm>
          <a:off x="0" y="0"/>
          <a:ext cx="0" cy="0"/>
          <a:chOff x="0" y="0"/>
          <a:chExt cx="0" cy="0"/>
        </a:xfrm>
      </p:grpSpPr>
      <p:sp>
        <p:nvSpPr>
          <p:cNvPr id="44" name="Google Shape;44;p19"/>
          <p:cNvSpPr/>
          <p:nvPr/>
        </p:nvSpPr>
        <p:spPr>
          <a:xfrm flipH="1">
            <a:off x="5894362" y="576775"/>
            <a:ext cx="6297637" cy="6253652"/>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5" name="Google Shape;45;p19"/>
          <p:cNvPicPr preferRelativeResize="0"/>
          <p:nvPr/>
        </p:nvPicPr>
        <p:blipFill rotWithShape="1">
          <a:blip r:embed="rId2">
            <a:alphaModFix/>
          </a:blip>
          <a:srcRect/>
          <a:stretch/>
        </p:blipFill>
        <p:spPr>
          <a:xfrm>
            <a:off x="1" y="-251733"/>
            <a:ext cx="12191999" cy="7129976"/>
          </a:xfrm>
          <a:prstGeom prst="rect">
            <a:avLst/>
          </a:prstGeom>
          <a:noFill/>
          <a:ln>
            <a:noFill/>
          </a:ln>
        </p:spPr>
      </p:pic>
      <p:sp>
        <p:nvSpPr>
          <p:cNvPr id="46" name="Google Shape;46;p19"/>
          <p:cNvSpPr/>
          <p:nvPr/>
        </p:nvSpPr>
        <p:spPr>
          <a:xfrm>
            <a:off x="-1" y="-251733"/>
            <a:ext cx="5718221" cy="6472229"/>
          </a:xfrm>
          <a:prstGeom prst="triangle">
            <a:avLst>
              <a:gd name="adj" fmla="val 47674"/>
            </a:avLst>
          </a:prstGeom>
          <a:solidFill>
            <a:schemeClr val="accent1"/>
          </a:solidFill>
          <a:ln w="12700" cap="flat" cmpd="sng">
            <a:solidFill>
              <a:srgbClr val="A65F0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7"/>
        <p:cNvGrpSpPr/>
        <p:nvPr/>
      </p:nvGrpSpPr>
      <p:grpSpPr>
        <a:xfrm>
          <a:off x="0" y="0"/>
          <a:ext cx="0" cy="0"/>
          <a:chOff x="0" y="0"/>
          <a:chExt cx="0" cy="0"/>
        </a:xfrm>
      </p:grpSpPr>
      <p:sp>
        <p:nvSpPr>
          <p:cNvPr id="48" name="Google Shape;48;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9" name="Google Shape;49;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50" name="Google Shape;50;p2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12"/>
          <p:cNvSpPr txBox="1">
            <a:spLocks noGrp="1"/>
          </p:cNvSpPr>
          <p:nvPr>
            <p:ph type="body" idx="1"/>
          </p:nvPr>
        </p:nvSpPr>
        <p:spPr>
          <a:xfrm>
            <a:off x="0" y="1027906"/>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tle_3">
  <p:cSld name="Tittle_3">
    <p:spTree>
      <p:nvGrpSpPr>
        <p:cNvPr id="1" name="Shape 69"/>
        <p:cNvGrpSpPr/>
        <p:nvPr/>
      </p:nvGrpSpPr>
      <p:grpSpPr>
        <a:xfrm>
          <a:off x="0" y="0"/>
          <a:ext cx="0" cy="0"/>
          <a:chOff x="0" y="0"/>
          <a:chExt cx="0" cy="0"/>
        </a:xfrm>
      </p:grpSpPr>
      <p:pic>
        <p:nvPicPr>
          <p:cNvPr id="70" name="Google Shape;70;p23"/>
          <p:cNvPicPr preferRelativeResize="0"/>
          <p:nvPr/>
        </p:nvPicPr>
        <p:blipFill rotWithShape="1">
          <a:blip r:embed="rId2">
            <a:alphaModFix/>
          </a:blip>
          <a:srcRect/>
          <a:stretch/>
        </p:blipFill>
        <p:spPr>
          <a:xfrm>
            <a:off x="0" y="0"/>
            <a:ext cx="12192000" cy="6830427"/>
          </a:xfrm>
          <a:prstGeom prst="rect">
            <a:avLst/>
          </a:prstGeom>
          <a:noFill/>
          <a:ln>
            <a:noFill/>
          </a:ln>
        </p:spPr>
      </p:pic>
      <p:sp>
        <p:nvSpPr>
          <p:cNvPr id="71" name="Google Shape;71;p23"/>
          <p:cNvSpPr/>
          <p:nvPr/>
        </p:nvSpPr>
        <p:spPr>
          <a:xfrm flipH="1">
            <a:off x="5894362" y="576775"/>
            <a:ext cx="6297637" cy="6253652"/>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2" name="Google Shape;72;p23"/>
          <p:cNvPicPr preferRelativeResize="0"/>
          <p:nvPr/>
        </p:nvPicPr>
        <p:blipFill rotWithShape="1">
          <a:blip r:embed="rId3">
            <a:alphaModFix/>
          </a:blip>
          <a:srcRect/>
          <a:stretch/>
        </p:blipFill>
        <p:spPr>
          <a:xfrm>
            <a:off x="8398413" y="4442309"/>
            <a:ext cx="3793588" cy="20851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73"/>
        <p:cNvGrpSpPr/>
        <p:nvPr/>
      </p:nvGrpSpPr>
      <p:grpSpPr>
        <a:xfrm>
          <a:off x="0" y="0"/>
          <a:ext cx="0" cy="0"/>
          <a:chOff x="0" y="0"/>
          <a:chExt cx="0" cy="0"/>
        </a:xfrm>
      </p:grpSpPr>
      <p:pic>
        <p:nvPicPr>
          <p:cNvPr id="74" name="Google Shape;74;p24"/>
          <p:cNvPicPr preferRelativeResize="0"/>
          <p:nvPr/>
        </p:nvPicPr>
        <p:blipFill rotWithShape="1">
          <a:blip r:embed="rId2">
            <a:alphaModFix/>
          </a:blip>
          <a:srcRect/>
          <a:stretch/>
        </p:blipFill>
        <p:spPr>
          <a:xfrm>
            <a:off x="-1" y="-1"/>
            <a:ext cx="12192000" cy="6843191"/>
          </a:xfrm>
          <a:prstGeom prst="rect">
            <a:avLst/>
          </a:prstGeom>
          <a:noFill/>
          <a:ln>
            <a:noFill/>
          </a:ln>
        </p:spPr>
      </p:pic>
      <p:sp>
        <p:nvSpPr>
          <p:cNvPr id="75" name="Google Shape;75;p24"/>
          <p:cNvSpPr/>
          <p:nvPr/>
        </p:nvSpPr>
        <p:spPr>
          <a:xfrm flipH="1">
            <a:off x="5894362" y="576775"/>
            <a:ext cx="6297637" cy="6253652"/>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6" name="Google Shape;76;p24"/>
          <p:cNvPicPr preferRelativeResize="0"/>
          <p:nvPr/>
        </p:nvPicPr>
        <p:blipFill rotWithShape="1">
          <a:blip r:embed="rId3">
            <a:alphaModFix/>
          </a:blip>
          <a:srcRect/>
          <a:stretch/>
        </p:blipFill>
        <p:spPr>
          <a:xfrm>
            <a:off x="8398413" y="4442309"/>
            <a:ext cx="3793588" cy="20851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Slide">
  <p:cSld name="TitleSlide">
    <p:spTree>
      <p:nvGrpSpPr>
        <p:cNvPr id="1" name="Shape 77"/>
        <p:cNvGrpSpPr/>
        <p:nvPr/>
      </p:nvGrpSpPr>
      <p:grpSpPr>
        <a:xfrm>
          <a:off x="0" y="0"/>
          <a:ext cx="0" cy="0"/>
          <a:chOff x="0" y="0"/>
          <a:chExt cx="0" cy="0"/>
        </a:xfrm>
      </p:grpSpPr>
      <p:pic>
        <p:nvPicPr>
          <p:cNvPr id="78" name="Google Shape;78;p25"/>
          <p:cNvPicPr preferRelativeResize="0"/>
          <p:nvPr/>
        </p:nvPicPr>
        <p:blipFill rotWithShape="1">
          <a:blip r:embed="rId2">
            <a:alphaModFix/>
          </a:blip>
          <a:srcRect/>
          <a:stretch/>
        </p:blipFill>
        <p:spPr>
          <a:xfrm>
            <a:off x="0" y="25395"/>
            <a:ext cx="12192000" cy="6832605"/>
          </a:xfrm>
          <a:prstGeom prst="rect">
            <a:avLst/>
          </a:prstGeom>
          <a:noFill/>
          <a:ln>
            <a:noFill/>
          </a:ln>
        </p:spPr>
      </p:pic>
      <p:sp>
        <p:nvSpPr>
          <p:cNvPr id="79" name="Google Shape;79;p25"/>
          <p:cNvSpPr/>
          <p:nvPr/>
        </p:nvSpPr>
        <p:spPr>
          <a:xfrm flipH="1">
            <a:off x="5894362" y="25395"/>
            <a:ext cx="6297637" cy="6832605"/>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0" name="Google Shape;80;p25"/>
          <p:cNvPicPr preferRelativeResize="0"/>
          <p:nvPr/>
        </p:nvPicPr>
        <p:blipFill rotWithShape="1">
          <a:blip r:embed="rId3">
            <a:alphaModFix/>
          </a:blip>
          <a:srcRect/>
          <a:stretch/>
        </p:blipFill>
        <p:spPr>
          <a:xfrm>
            <a:off x="7392473" y="5237442"/>
            <a:ext cx="4799527" cy="1620558"/>
          </a:xfrm>
          <a:prstGeom prst="rect">
            <a:avLst/>
          </a:prstGeom>
          <a:noFill/>
          <a:ln>
            <a:noFill/>
          </a:ln>
        </p:spPr>
      </p:pic>
      <p:sp>
        <p:nvSpPr>
          <p:cNvPr id="81" name="Google Shape;81;p25"/>
          <p:cNvSpPr txBox="1"/>
          <p:nvPr/>
        </p:nvSpPr>
        <p:spPr>
          <a:xfrm>
            <a:off x="5709633" y="631163"/>
            <a:ext cx="3047627" cy="40782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BE6DC"/>
              </a:buClr>
              <a:buSzPts val="2000"/>
              <a:buFont typeface="Calibri"/>
              <a:buNone/>
            </a:pPr>
            <a:r>
              <a:rPr lang="en-US" sz="2000">
                <a:solidFill>
                  <a:srgbClr val="EBE6DC"/>
                </a:solidFill>
                <a:latin typeface="Calibri"/>
                <a:ea typeface="Calibri"/>
                <a:cs typeface="Calibri"/>
                <a:sym typeface="Calibri"/>
              </a:rPr>
              <a:t>Making Integration Easier…</a:t>
            </a:r>
            <a:endParaRPr sz="2000">
              <a:solidFill>
                <a:srgbClr val="EBE6DC"/>
              </a:solidFill>
              <a:latin typeface="Calibri"/>
              <a:ea typeface="Calibri"/>
              <a:cs typeface="Calibri"/>
              <a:sym typeface="Calibri"/>
            </a:endParaRPr>
          </a:p>
        </p:txBody>
      </p:sp>
      <p:sp>
        <p:nvSpPr>
          <p:cNvPr id="82" name="Google Shape;82;p25"/>
          <p:cNvSpPr txBox="1"/>
          <p:nvPr/>
        </p:nvSpPr>
        <p:spPr>
          <a:xfrm>
            <a:off x="4550535" y="0"/>
            <a:ext cx="428829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rgbClr val="FBE6CC"/>
                </a:solidFill>
                <a:latin typeface="Calibri"/>
                <a:ea typeface="Calibri"/>
                <a:cs typeface="Calibri"/>
                <a:sym typeface="Calibri"/>
              </a:rPr>
              <a:t>TECHY GEEK HUB</a:t>
            </a:r>
            <a:endParaRPr sz="4400">
              <a:solidFill>
                <a:srgbClr val="FBE6CC"/>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83"/>
        <p:cNvGrpSpPr/>
        <p:nvPr/>
      </p:nvGrpSpPr>
      <p:grpSpPr>
        <a:xfrm>
          <a:off x="0" y="0"/>
          <a:ext cx="0" cy="0"/>
          <a:chOff x="0" y="0"/>
          <a:chExt cx="0" cy="0"/>
        </a:xfrm>
      </p:grpSpPr>
      <p:sp>
        <p:nvSpPr>
          <p:cNvPr id="84" name="Google Shape;84;p26"/>
          <p:cNvSpPr/>
          <p:nvPr/>
        </p:nvSpPr>
        <p:spPr>
          <a:xfrm flipH="1">
            <a:off x="5894362" y="576775"/>
            <a:ext cx="6297637" cy="6253652"/>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5" name="Google Shape;85;p26"/>
          <p:cNvPicPr preferRelativeResize="0"/>
          <p:nvPr/>
        </p:nvPicPr>
        <p:blipFill rotWithShape="1">
          <a:blip r:embed="rId2">
            <a:alphaModFix/>
          </a:blip>
          <a:srcRect/>
          <a:stretch/>
        </p:blipFill>
        <p:spPr>
          <a:xfrm>
            <a:off x="1" y="-251733"/>
            <a:ext cx="12191999" cy="7129976"/>
          </a:xfrm>
          <a:prstGeom prst="rect">
            <a:avLst/>
          </a:prstGeom>
          <a:noFill/>
          <a:ln>
            <a:noFill/>
          </a:ln>
        </p:spPr>
      </p:pic>
      <p:sp>
        <p:nvSpPr>
          <p:cNvPr id="86" name="Google Shape;86;p26"/>
          <p:cNvSpPr/>
          <p:nvPr/>
        </p:nvSpPr>
        <p:spPr>
          <a:xfrm>
            <a:off x="-1" y="-251733"/>
            <a:ext cx="5718221" cy="6472229"/>
          </a:xfrm>
          <a:prstGeom prst="triangle">
            <a:avLst>
              <a:gd name="adj" fmla="val 47674"/>
            </a:avLst>
          </a:prstGeom>
          <a:solidFill>
            <a:schemeClr val="accent1"/>
          </a:solidFill>
          <a:ln w="12700" cap="flat" cmpd="sng">
            <a:solidFill>
              <a:srgbClr val="A65F0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7"/>
        <p:cNvGrpSpPr/>
        <p:nvPr/>
      </p:nvGrpSpPr>
      <p:grpSpPr>
        <a:xfrm>
          <a:off x="0" y="0"/>
          <a:ext cx="0" cy="0"/>
          <a:chOff x="0" y="0"/>
          <a:chExt cx="0" cy="0"/>
        </a:xfrm>
      </p:grpSpPr>
      <p:sp>
        <p:nvSpPr>
          <p:cNvPr id="88" name="Google Shape;88;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9" name="Google Shape;89;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90" name="Google Shape;90;p2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2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2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p:nvPr/>
        </p:nvSpPr>
        <p:spPr>
          <a:xfrm rot="-5400000">
            <a:off x="2667000" y="-2667001"/>
            <a:ext cx="6858000" cy="12192000"/>
          </a:xfrm>
          <a:prstGeom prst="rtTriangle">
            <a:avLst/>
          </a:prstGeom>
          <a:solidFill>
            <a:srgbClr val="1F39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
          <p:cNvSpPr/>
          <p:nvPr/>
        </p:nvSpPr>
        <p:spPr>
          <a:xfrm>
            <a:off x="5188762" y="6378936"/>
            <a:ext cx="200061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1">
                <a:solidFill>
                  <a:schemeClr val="lt1"/>
                </a:solidFill>
                <a:latin typeface="Times New Roman"/>
                <a:ea typeface="Times New Roman"/>
                <a:cs typeface="Times New Roman"/>
                <a:sym typeface="Times New Roman"/>
              </a:rPr>
              <a:t>www.techygeekhub.com</a:t>
            </a:r>
            <a:endParaRPr sz="1400" i="1">
              <a:solidFill>
                <a:schemeClr val="lt1"/>
              </a:solidFill>
              <a:latin typeface="Times New Roman"/>
              <a:ea typeface="Times New Roman"/>
              <a:cs typeface="Times New Roman"/>
              <a:sym typeface="Times New Roman"/>
            </a:endParaRPr>
          </a:p>
        </p:txBody>
      </p:sp>
      <p:pic>
        <p:nvPicPr>
          <p:cNvPr id="99" name="Google Shape;99;p1" descr="An In tegration HUb"/>
          <p:cNvPicPr preferRelativeResize="0"/>
          <p:nvPr/>
        </p:nvPicPr>
        <p:blipFill rotWithShape="1">
          <a:blip r:embed="rId3">
            <a:alphaModFix/>
          </a:blip>
          <a:srcRect l="17565" t="22875" r="17093" b="12835"/>
          <a:stretch/>
        </p:blipFill>
        <p:spPr>
          <a:xfrm>
            <a:off x="4588371" y="1945670"/>
            <a:ext cx="3015251" cy="2966659"/>
          </a:xfrm>
          <a:prstGeom prst="ellipse">
            <a:avLst/>
          </a:prstGeom>
          <a:noFill/>
          <a:ln>
            <a:noFill/>
          </a:ln>
        </p:spPr>
      </p:pic>
      <p:sp>
        <p:nvSpPr>
          <p:cNvPr id="100" name="Google Shape;100;p1"/>
          <p:cNvSpPr/>
          <p:nvPr/>
        </p:nvSpPr>
        <p:spPr>
          <a:xfrm>
            <a:off x="2512718" y="5328745"/>
            <a:ext cx="7914300" cy="923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lt1"/>
                </a:solidFill>
                <a:latin typeface="Century"/>
                <a:ea typeface="Century"/>
                <a:cs typeface="Century"/>
                <a:sym typeface="Century"/>
              </a:rPr>
              <a:t>TGH offers reliable integration solutions, streamline business ecosystem, implement automation thus delivering efficient, effective and emerging digital solution with revenue growth.</a:t>
            </a:r>
            <a:endParaRPr sz="1800">
              <a:solidFill>
                <a:schemeClr val="lt1"/>
              </a:solidFill>
              <a:latin typeface="Century"/>
              <a:ea typeface="Century"/>
              <a:cs typeface="Century"/>
              <a:sym typeface="Century"/>
            </a:endParaRPr>
          </a:p>
        </p:txBody>
      </p:sp>
      <p:pic>
        <p:nvPicPr>
          <p:cNvPr id="101" name="Google Shape;101;p1"/>
          <p:cNvPicPr preferRelativeResize="0"/>
          <p:nvPr/>
        </p:nvPicPr>
        <p:blipFill rotWithShape="1">
          <a:blip r:embed="rId4">
            <a:alphaModFix/>
          </a:blip>
          <a:srcRect/>
          <a:stretch/>
        </p:blipFill>
        <p:spPr>
          <a:xfrm>
            <a:off x="2846291" y="-614814"/>
            <a:ext cx="6685522" cy="334276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2"/>
          <p:cNvPicPr preferRelativeResize="0"/>
          <p:nvPr/>
        </p:nvPicPr>
        <p:blipFill rotWithShape="1">
          <a:blip r:embed="rId3">
            <a:alphaModFix/>
          </a:blip>
          <a:srcRect/>
          <a:stretch/>
        </p:blipFill>
        <p:spPr>
          <a:xfrm>
            <a:off x="0" y="-2356"/>
            <a:ext cx="12191239" cy="6857572"/>
          </a:xfrm>
          <a:prstGeom prst="rect">
            <a:avLst/>
          </a:prstGeom>
          <a:noFill/>
          <a:ln>
            <a:noFill/>
          </a:ln>
        </p:spPr>
      </p:pic>
      <p:sp>
        <p:nvSpPr>
          <p:cNvPr id="107" name="Google Shape;107;p2"/>
          <p:cNvSpPr/>
          <p:nvPr/>
        </p:nvSpPr>
        <p:spPr>
          <a:xfrm>
            <a:off x="1092010" y="2874713"/>
            <a:ext cx="9999300" cy="1538842"/>
          </a:xfrm>
          <a:prstGeom prst="rect">
            <a:avLst/>
          </a:prstGeom>
          <a:noFill/>
          <a:ln>
            <a:noFill/>
          </a:ln>
        </p:spPr>
        <p:txBody>
          <a:bodyPr spcFirstLastPara="1" wrap="square" lIns="91425" tIns="45700" rIns="91425" bIns="45700" anchor="t" anchorCtr="0">
            <a:spAutoFit/>
          </a:bodyPr>
          <a:lstStyle/>
          <a:p>
            <a:pPr algn="ctr"/>
            <a:endParaRPr lang="en-US">
              <a:sym typeface="Arial Black"/>
            </a:endParaRPr>
          </a:p>
          <a:p>
            <a:pPr algn="ctr"/>
            <a:r>
              <a:rPr lang="en-US" sz="4000">
                <a:solidFill>
                  <a:schemeClr val="lt2"/>
                </a:solidFill>
                <a:ea typeface="Calibri"/>
              </a:rPr>
              <a:t>VARIABLE AND LISTS IN WORAKTO </a:t>
            </a:r>
          </a:p>
          <a:p>
            <a:pPr algn="ctr"/>
            <a:endParaRPr lang="en-US" sz="4000">
              <a:solidFill>
                <a:schemeClr val="lt2"/>
              </a:solidFill>
              <a:ea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4"/>
          <p:cNvPicPr preferRelativeResize="0"/>
          <p:nvPr/>
        </p:nvPicPr>
        <p:blipFill rotWithShape="1">
          <a:blip r:embed="rId3">
            <a:alphaModFix/>
          </a:blip>
          <a:srcRect/>
          <a:stretch/>
        </p:blipFill>
        <p:spPr>
          <a:xfrm>
            <a:off x="8528049" y="6215744"/>
            <a:ext cx="3663950" cy="1017270"/>
          </a:xfrm>
          <a:prstGeom prst="rect">
            <a:avLst/>
          </a:prstGeom>
          <a:noFill/>
          <a:ln>
            <a:noFill/>
          </a:ln>
        </p:spPr>
      </p:pic>
      <p:sp>
        <p:nvSpPr>
          <p:cNvPr id="113" name="Google Shape;113;p4"/>
          <p:cNvSpPr/>
          <p:nvPr/>
        </p:nvSpPr>
        <p:spPr>
          <a:xfrm>
            <a:off x="0" y="-17744"/>
            <a:ext cx="12215700" cy="660000"/>
          </a:xfrm>
          <a:prstGeom prst="rect">
            <a:avLst/>
          </a:prstGeom>
          <a:solidFill>
            <a:srgbClr val="1F39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500">
                <a:solidFill>
                  <a:schemeClr val="lt2"/>
                </a:solidFill>
                <a:latin typeface="Calibri"/>
                <a:ea typeface="Calibri"/>
                <a:cs typeface="Calibri"/>
                <a:sym typeface="Calibri"/>
              </a:rPr>
              <a:t>Topics to Cover:-</a:t>
            </a:r>
            <a:endParaRPr sz="4500">
              <a:solidFill>
                <a:schemeClr val="lt2"/>
              </a:solidFill>
              <a:latin typeface="Calibri"/>
              <a:ea typeface="Calibri"/>
              <a:cs typeface="Calibri"/>
              <a:sym typeface="Calibri"/>
            </a:endParaRPr>
          </a:p>
        </p:txBody>
      </p:sp>
      <p:sp>
        <p:nvSpPr>
          <p:cNvPr id="114" name="Google Shape;114;p4"/>
          <p:cNvSpPr txBox="1"/>
          <p:nvPr/>
        </p:nvSpPr>
        <p:spPr>
          <a:xfrm flipH="1">
            <a:off x="6820419" y="3536632"/>
            <a:ext cx="4382100" cy="692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06F7A4B2-3637-E21C-3A7E-7B6F7AF5D46B}"/>
              </a:ext>
            </a:extLst>
          </p:cNvPr>
          <p:cNvSpPr txBox="1"/>
          <p:nvPr/>
        </p:nvSpPr>
        <p:spPr>
          <a:xfrm>
            <a:off x="514864" y="2272482"/>
            <a:ext cx="11522970" cy="2123658"/>
          </a:xfrm>
          <a:prstGeom prst="rect">
            <a:avLst/>
          </a:prstGeom>
          <a:noFill/>
        </p:spPr>
        <p:txBody>
          <a:bodyPr wrap="square" lIns="91440" tIns="45720" rIns="91440" bIns="45720" anchor="ctr">
            <a:spAutoFit/>
          </a:bodyPr>
          <a:lstStyle/>
          <a:p>
            <a:r>
              <a:rPr lang="en-US" sz="2200" b="1">
                <a:solidFill>
                  <a:schemeClr val="tx1"/>
                </a:solidFill>
              </a:rPr>
              <a:t>1</a:t>
            </a:r>
            <a:r>
              <a:rPr lang="en-US" sz="2200">
                <a:solidFill>
                  <a:schemeClr val="tx1"/>
                </a:solidFill>
              </a:rPr>
              <a:t>: What is</a:t>
            </a:r>
            <a:r>
              <a:rPr lang="en-US" sz="2200" b="1">
                <a:solidFill>
                  <a:schemeClr val="tx1"/>
                </a:solidFill>
              </a:rPr>
              <a:t> Variable</a:t>
            </a:r>
            <a:r>
              <a:rPr lang="en-US" sz="2200">
                <a:solidFill>
                  <a:schemeClr val="tx1"/>
                </a:solidFill>
              </a:rPr>
              <a:t> in </a:t>
            </a:r>
            <a:r>
              <a:rPr lang="en-US" sz="2200" err="1">
                <a:solidFill>
                  <a:schemeClr val="tx1"/>
                </a:solidFill>
              </a:rPr>
              <a:t>workato</a:t>
            </a:r>
            <a:r>
              <a:rPr lang="en-US" sz="2200">
                <a:solidFill>
                  <a:schemeClr val="tx1"/>
                </a:solidFill>
              </a:rPr>
              <a:t>  ? </a:t>
            </a:r>
            <a:endParaRPr lang="en-US">
              <a:solidFill>
                <a:schemeClr val="tx1"/>
              </a:solidFill>
            </a:endParaRPr>
          </a:p>
          <a:p>
            <a:r>
              <a:rPr lang="en-US" sz="2200" b="1">
                <a:solidFill>
                  <a:schemeClr val="tx1"/>
                </a:solidFill>
              </a:rPr>
              <a:t>2</a:t>
            </a:r>
            <a:r>
              <a:rPr lang="en-US" sz="2200">
                <a:solidFill>
                  <a:schemeClr val="tx1"/>
                </a:solidFill>
              </a:rPr>
              <a:t>: How to create and update  a variable in </a:t>
            </a:r>
            <a:r>
              <a:rPr lang="en-US" sz="2200" err="1">
                <a:solidFill>
                  <a:schemeClr val="tx1"/>
                </a:solidFill>
              </a:rPr>
              <a:t>workato</a:t>
            </a:r>
            <a:r>
              <a:rPr lang="en-US" sz="2200">
                <a:solidFill>
                  <a:schemeClr val="tx1"/>
                </a:solidFill>
              </a:rPr>
              <a:t> . </a:t>
            </a:r>
          </a:p>
          <a:p>
            <a:r>
              <a:rPr lang="en-US" sz="2200" b="1">
                <a:solidFill>
                  <a:schemeClr val="tx1"/>
                </a:solidFill>
              </a:rPr>
              <a:t>3</a:t>
            </a:r>
            <a:r>
              <a:rPr lang="en-US" sz="2200">
                <a:solidFill>
                  <a:schemeClr val="tx1"/>
                </a:solidFill>
              </a:rPr>
              <a:t>: What is </a:t>
            </a:r>
            <a:r>
              <a:rPr lang="en-US" sz="2200" b="1">
                <a:solidFill>
                  <a:schemeClr val="tx1"/>
                </a:solidFill>
              </a:rPr>
              <a:t>list</a:t>
            </a:r>
            <a:r>
              <a:rPr lang="en-US" sz="2200">
                <a:solidFill>
                  <a:schemeClr val="tx1"/>
                </a:solidFill>
              </a:rPr>
              <a:t>s in </a:t>
            </a:r>
            <a:r>
              <a:rPr lang="en-US" sz="2200" err="1">
                <a:solidFill>
                  <a:schemeClr val="tx1"/>
                </a:solidFill>
              </a:rPr>
              <a:t>workato</a:t>
            </a:r>
            <a:r>
              <a:rPr lang="en-US" sz="2200">
                <a:solidFill>
                  <a:schemeClr val="tx1"/>
                </a:solidFill>
              </a:rPr>
              <a:t> ?</a:t>
            </a:r>
          </a:p>
          <a:p>
            <a:r>
              <a:rPr lang="en-US" sz="2200" b="1">
                <a:solidFill>
                  <a:schemeClr val="tx1"/>
                </a:solidFill>
              </a:rPr>
              <a:t>4</a:t>
            </a:r>
            <a:r>
              <a:rPr lang="en-US" sz="2200">
                <a:solidFill>
                  <a:schemeClr val="tx1"/>
                </a:solidFill>
              </a:rPr>
              <a:t>: How to create a list? </a:t>
            </a:r>
          </a:p>
          <a:p>
            <a:r>
              <a:rPr lang="en-US" sz="2200" b="1">
                <a:solidFill>
                  <a:schemeClr val="tx1"/>
                </a:solidFill>
              </a:rPr>
              <a:t>5</a:t>
            </a:r>
            <a:r>
              <a:rPr lang="en-US" sz="2200">
                <a:solidFill>
                  <a:schemeClr val="tx1"/>
                </a:solidFill>
              </a:rPr>
              <a:t>. How to</a:t>
            </a:r>
            <a:r>
              <a:rPr lang="en-US" sz="2200" b="1">
                <a:solidFill>
                  <a:schemeClr val="tx1"/>
                </a:solidFill>
              </a:rPr>
              <a:t> add </a:t>
            </a:r>
            <a:r>
              <a:rPr lang="en-US" sz="2200">
                <a:solidFill>
                  <a:schemeClr val="tx1"/>
                </a:solidFill>
              </a:rPr>
              <a:t>&amp; </a:t>
            </a:r>
            <a:r>
              <a:rPr lang="en-US" sz="2200" b="1">
                <a:solidFill>
                  <a:schemeClr val="tx1"/>
                </a:solidFill>
              </a:rPr>
              <a:t>clear</a:t>
            </a:r>
            <a:r>
              <a:rPr lang="en-US" sz="2200">
                <a:solidFill>
                  <a:schemeClr val="tx1"/>
                </a:solidFill>
              </a:rPr>
              <a:t> items in a list .</a:t>
            </a:r>
          </a:p>
          <a:p>
            <a:r>
              <a:rPr lang="en-US" sz="2200" b="1">
                <a:solidFill>
                  <a:schemeClr val="tx1"/>
                </a:solidFill>
              </a:rPr>
              <a:t>6</a:t>
            </a:r>
            <a:r>
              <a:rPr lang="en-US" sz="2200">
                <a:solidFill>
                  <a:schemeClr val="tx1"/>
                </a:solidFill>
              </a:rPr>
              <a:t>. Use of variable and lists . </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CE48437-B387-0168-97B0-3F5C7BA74A68}"/>
            </a:ext>
          </a:extLst>
        </p:cNvPr>
        <p:cNvGrpSpPr/>
        <p:nvPr/>
      </p:nvGrpSpPr>
      <p:grpSpPr>
        <a:xfrm>
          <a:off x="0" y="0"/>
          <a:ext cx="0" cy="0"/>
          <a:chOff x="0" y="0"/>
          <a:chExt cx="0" cy="0"/>
        </a:xfrm>
      </p:grpSpPr>
      <p:pic>
        <p:nvPicPr>
          <p:cNvPr id="112" name="Google Shape;112;p4">
            <a:extLst>
              <a:ext uri="{FF2B5EF4-FFF2-40B4-BE49-F238E27FC236}">
                <a16:creationId xmlns:a16="http://schemas.microsoft.com/office/drawing/2014/main" id="{5F685E75-736C-3CB8-FA08-ABB337651DE2}"/>
              </a:ext>
            </a:extLst>
          </p:cNvPr>
          <p:cNvPicPr preferRelativeResize="0"/>
          <p:nvPr/>
        </p:nvPicPr>
        <p:blipFill rotWithShape="1">
          <a:blip r:embed="rId3">
            <a:alphaModFix/>
          </a:blip>
          <a:srcRect/>
          <a:stretch/>
        </p:blipFill>
        <p:spPr>
          <a:xfrm>
            <a:off x="8528049" y="6215744"/>
            <a:ext cx="3663950" cy="1017270"/>
          </a:xfrm>
          <a:prstGeom prst="rect">
            <a:avLst/>
          </a:prstGeom>
          <a:noFill/>
          <a:ln>
            <a:noFill/>
          </a:ln>
        </p:spPr>
      </p:pic>
      <p:sp>
        <p:nvSpPr>
          <p:cNvPr id="113" name="Google Shape;113;p4">
            <a:extLst>
              <a:ext uri="{FF2B5EF4-FFF2-40B4-BE49-F238E27FC236}">
                <a16:creationId xmlns:a16="http://schemas.microsoft.com/office/drawing/2014/main" id="{2554A6B3-4843-97A4-945B-DF79731063EA}"/>
              </a:ext>
            </a:extLst>
          </p:cNvPr>
          <p:cNvSpPr/>
          <p:nvPr/>
        </p:nvSpPr>
        <p:spPr>
          <a:xfrm>
            <a:off x="-10297" y="-7447"/>
            <a:ext cx="12215700" cy="649703"/>
          </a:xfrm>
          <a:prstGeom prst="rect">
            <a:avLst/>
          </a:prstGeom>
          <a:solidFill>
            <a:srgbClr val="1F394D"/>
          </a:solidFill>
          <a:ln>
            <a:noFill/>
          </a:ln>
        </p:spPr>
        <p:txBody>
          <a:bodyPr spcFirstLastPara="1" wrap="square" lIns="91425" tIns="45700" rIns="91425" bIns="45700" anchor="ctr" anchorCtr="0">
            <a:noAutofit/>
          </a:bodyPr>
          <a:lstStyle/>
          <a:p>
            <a:pPr algn="ctr"/>
            <a:r>
              <a:rPr lang="en-US" sz="4500">
                <a:solidFill>
                  <a:schemeClr val="lt2"/>
                </a:solidFill>
                <a:ea typeface="Calibri"/>
                <a:sym typeface="Calibri"/>
              </a:rPr>
              <a:t>What is a variable ?</a:t>
            </a:r>
            <a:endParaRPr lang="en-US">
              <a:solidFill>
                <a:schemeClr val="lt2"/>
              </a:solidFill>
            </a:endParaRPr>
          </a:p>
        </p:txBody>
      </p:sp>
      <p:sp>
        <p:nvSpPr>
          <p:cNvPr id="114" name="Google Shape;114;p4">
            <a:extLst>
              <a:ext uri="{FF2B5EF4-FFF2-40B4-BE49-F238E27FC236}">
                <a16:creationId xmlns:a16="http://schemas.microsoft.com/office/drawing/2014/main" id="{F873860B-5859-222D-C8FA-855C77B4C8A8}"/>
              </a:ext>
            </a:extLst>
          </p:cNvPr>
          <p:cNvSpPr txBox="1"/>
          <p:nvPr/>
        </p:nvSpPr>
        <p:spPr>
          <a:xfrm flipH="1">
            <a:off x="6820419" y="3536632"/>
            <a:ext cx="4382100" cy="692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E4D7B9FF-A94D-6F7E-D7C5-ECB3E315BABE}"/>
              </a:ext>
            </a:extLst>
          </p:cNvPr>
          <p:cNvSpPr txBox="1"/>
          <p:nvPr/>
        </p:nvSpPr>
        <p:spPr>
          <a:xfrm>
            <a:off x="0" y="1104372"/>
            <a:ext cx="11488782" cy="5016758"/>
          </a:xfrm>
          <a:prstGeom prst="rect">
            <a:avLst/>
          </a:prstGeom>
          <a:noFill/>
        </p:spPr>
        <p:txBody>
          <a:bodyPr wrap="square" lIns="91440" tIns="45720" rIns="91440" bIns="45720" anchor="t">
            <a:spAutoFit/>
          </a:bodyPr>
          <a:lstStyle/>
          <a:p>
            <a:pPr marL="342900" indent="-342900">
              <a:buChar char="•"/>
            </a:pPr>
            <a:endParaRPr lang="en-US" sz="2000" b="1">
              <a:ea typeface="Calibri"/>
            </a:endParaRPr>
          </a:p>
          <a:p>
            <a:pPr marL="342900" indent="-342900">
              <a:buChar char="•"/>
            </a:pPr>
            <a:endParaRPr lang="en-US" sz="2000" b="1">
              <a:ea typeface="Calibri"/>
            </a:endParaRPr>
          </a:p>
          <a:p>
            <a:pPr marL="342900" indent="-342900">
              <a:buChar char="•"/>
            </a:pPr>
            <a:endParaRPr lang="en-US" sz="2000" b="1">
              <a:ea typeface="Calibri"/>
            </a:endParaRPr>
          </a:p>
          <a:p>
            <a:pPr marL="342900" indent="-342900">
              <a:buChar char="•"/>
            </a:pPr>
            <a:r>
              <a:rPr lang="en-US" sz="2000" b="1">
                <a:ea typeface="Calibri"/>
              </a:rPr>
              <a:t>Variable </a:t>
            </a:r>
            <a:r>
              <a:rPr lang="en-US" sz="2000">
                <a:ea typeface="Calibri"/>
              </a:rPr>
              <a:t>= </a:t>
            </a:r>
            <a:r>
              <a:rPr lang="en-US" sz="2000" err="1">
                <a:solidFill>
                  <a:schemeClr val="tx1"/>
                </a:solidFill>
                <a:ea typeface="Source Sans Pro"/>
              </a:rPr>
              <a:t>Workato</a:t>
            </a:r>
            <a:r>
              <a:rPr lang="en-US" sz="2000">
                <a:solidFill>
                  <a:schemeClr val="tx1"/>
                </a:solidFill>
                <a:ea typeface="Source Sans Pro"/>
              </a:rPr>
              <a:t> variable is a user-declared </a:t>
            </a:r>
            <a:r>
              <a:rPr lang="en-US" sz="2000" err="1">
                <a:solidFill>
                  <a:schemeClr val="tx1"/>
                </a:solidFill>
                <a:ea typeface="Source Sans Pro"/>
              </a:rPr>
              <a:t>datapill</a:t>
            </a:r>
            <a:r>
              <a:rPr lang="en-US" sz="2000">
                <a:solidFill>
                  <a:schemeClr val="tx1"/>
                </a:solidFill>
                <a:ea typeface="Source Sans Pro"/>
              </a:rPr>
              <a:t>  that contains a data value. These user-declared variables are different from a standard </a:t>
            </a:r>
            <a:r>
              <a:rPr lang="en-US" sz="2000" err="1">
                <a:solidFill>
                  <a:schemeClr val="tx1"/>
                </a:solidFill>
                <a:ea typeface="Source Sans Pro"/>
              </a:rPr>
              <a:t>datapill</a:t>
            </a:r>
            <a:r>
              <a:rPr lang="en-US" sz="2000">
                <a:solidFill>
                  <a:schemeClr val="tx1"/>
                </a:solidFill>
                <a:ea typeface="Source Sans Pro"/>
              </a:rPr>
              <a:t> in that your declared variables are mutable - the value of the variable can be changed within a recipe.</a:t>
            </a:r>
            <a:endParaRPr lang="en-US" sz="2000">
              <a:solidFill>
                <a:schemeClr val="tx1"/>
              </a:solidFill>
              <a:ea typeface="Calibri"/>
            </a:endParaRPr>
          </a:p>
          <a:p>
            <a:pPr marL="342900" indent="-342900">
              <a:buChar char="•"/>
            </a:pPr>
            <a:endParaRPr lang="en-US" sz="2000">
              <a:solidFill>
                <a:schemeClr val="tx1"/>
              </a:solidFill>
              <a:ea typeface="Source Sans Pro"/>
            </a:endParaRPr>
          </a:p>
          <a:p>
            <a:pPr marL="342900" indent="-342900">
              <a:buChar char="•"/>
            </a:pPr>
            <a:endParaRPr lang="en-US" sz="2000">
              <a:solidFill>
                <a:schemeClr val="tx1"/>
              </a:solidFill>
              <a:ea typeface="Source Sans Pro"/>
            </a:endParaRPr>
          </a:p>
          <a:p>
            <a:pPr marL="342900" indent="-342900">
              <a:buChar char="•"/>
            </a:pPr>
            <a:endParaRPr lang="en-US" sz="2000">
              <a:ea typeface="Calibri"/>
            </a:endParaRPr>
          </a:p>
          <a:p>
            <a:pPr marL="342900" indent="-342900">
              <a:buChar char="•"/>
            </a:pPr>
            <a:r>
              <a:rPr lang="en-US" sz="2000" b="1">
                <a:ea typeface="Calibri"/>
              </a:rPr>
              <a:t>Lifetime or Scope </a:t>
            </a:r>
            <a:r>
              <a:rPr lang="en-US" sz="2000">
                <a:ea typeface="Calibri"/>
              </a:rPr>
              <a:t> = Cloud systems are applications that run on the internet instead of your company’s local servers. These applications are hosted, maintained, updated, and secured by the SaaS provider such as Salesforce, Workday, ServiceNow, SAP Cloud, etc.</a:t>
            </a:r>
            <a:endParaRPr lang="en-US">
              <a:ea typeface="Calibri"/>
            </a:endParaRPr>
          </a:p>
          <a:p>
            <a:pPr marL="342900" indent="-342900">
              <a:buChar char="•"/>
            </a:pPr>
            <a:endParaRPr lang="en-US" sz="2000">
              <a:ea typeface="Calibri"/>
            </a:endParaRPr>
          </a:p>
          <a:p>
            <a:pPr marL="342900" indent="-342900">
              <a:buChar char="•"/>
            </a:pPr>
            <a:endParaRPr lang="en-US" sz="2000">
              <a:ea typeface="Calibri"/>
            </a:endParaRPr>
          </a:p>
          <a:p>
            <a:endParaRPr lang="en-US" sz="2000">
              <a:ea typeface="Calibri"/>
            </a:endParaRPr>
          </a:p>
          <a:p>
            <a:pPr marL="285750" indent="-285750" algn="l">
              <a:buChar char="•"/>
            </a:pPr>
            <a:endParaRPr lang="en-US" sz="2000" b="0" i="0">
              <a:effectLst/>
              <a:ea typeface="Calibri" panose="020F0502020204030204" pitchFamily="34" charset="0"/>
            </a:endParaRPr>
          </a:p>
        </p:txBody>
      </p:sp>
    </p:spTree>
    <p:extLst>
      <p:ext uri="{BB962C8B-B14F-4D97-AF65-F5344CB8AC3E}">
        <p14:creationId xmlns:p14="http://schemas.microsoft.com/office/powerpoint/2010/main" val="2676741130"/>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7A31C80-77F1-160D-05EB-9758CE9DC712}"/>
            </a:ext>
          </a:extLst>
        </p:cNvPr>
        <p:cNvGrpSpPr/>
        <p:nvPr/>
      </p:nvGrpSpPr>
      <p:grpSpPr>
        <a:xfrm>
          <a:off x="0" y="0"/>
          <a:ext cx="0" cy="0"/>
          <a:chOff x="0" y="0"/>
          <a:chExt cx="0" cy="0"/>
        </a:xfrm>
      </p:grpSpPr>
      <p:pic>
        <p:nvPicPr>
          <p:cNvPr id="112" name="Google Shape;112;p4">
            <a:extLst>
              <a:ext uri="{FF2B5EF4-FFF2-40B4-BE49-F238E27FC236}">
                <a16:creationId xmlns:a16="http://schemas.microsoft.com/office/drawing/2014/main" id="{A523307F-F606-D3C2-ABE2-66C750A2FD02}"/>
              </a:ext>
            </a:extLst>
          </p:cNvPr>
          <p:cNvPicPr preferRelativeResize="0"/>
          <p:nvPr/>
        </p:nvPicPr>
        <p:blipFill rotWithShape="1">
          <a:blip r:embed="rId3">
            <a:alphaModFix/>
          </a:blip>
          <a:srcRect/>
          <a:stretch/>
        </p:blipFill>
        <p:spPr>
          <a:xfrm>
            <a:off x="8528049" y="6215744"/>
            <a:ext cx="3663950" cy="1017270"/>
          </a:xfrm>
          <a:prstGeom prst="rect">
            <a:avLst/>
          </a:prstGeom>
          <a:noFill/>
          <a:ln>
            <a:noFill/>
          </a:ln>
        </p:spPr>
      </p:pic>
      <p:sp>
        <p:nvSpPr>
          <p:cNvPr id="113" name="Google Shape;113;p4">
            <a:extLst>
              <a:ext uri="{FF2B5EF4-FFF2-40B4-BE49-F238E27FC236}">
                <a16:creationId xmlns:a16="http://schemas.microsoft.com/office/drawing/2014/main" id="{33A6347F-3E34-BA7F-1FB8-DCCAB6A19F66}"/>
              </a:ext>
            </a:extLst>
          </p:cNvPr>
          <p:cNvSpPr/>
          <p:nvPr/>
        </p:nvSpPr>
        <p:spPr>
          <a:xfrm>
            <a:off x="0" y="-17744"/>
            <a:ext cx="12215700" cy="660000"/>
          </a:xfrm>
          <a:prstGeom prst="rect">
            <a:avLst/>
          </a:prstGeom>
          <a:solidFill>
            <a:srgbClr val="1F394D"/>
          </a:solidFill>
          <a:ln>
            <a:noFill/>
          </a:ln>
        </p:spPr>
        <p:txBody>
          <a:bodyPr spcFirstLastPara="1" wrap="square" lIns="91425" tIns="45700" rIns="91425" bIns="45700" anchor="ctr" anchorCtr="0">
            <a:noAutofit/>
          </a:bodyPr>
          <a:lstStyle/>
          <a:p>
            <a:pPr algn="ctr"/>
            <a:r>
              <a:rPr lang="en-US" sz="4500" err="1">
                <a:solidFill>
                  <a:schemeClr val="lt2"/>
                </a:solidFill>
                <a:ea typeface="Calibri"/>
                <a:sym typeface="Calibri"/>
              </a:rPr>
              <a:t>Workato</a:t>
            </a:r>
            <a:r>
              <a:rPr lang="en-US" sz="4500">
                <a:solidFill>
                  <a:schemeClr val="lt2"/>
                </a:solidFill>
                <a:ea typeface="Calibri"/>
                <a:sym typeface="Calibri"/>
              </a:rPr>
              <a:t> On-Prem Agent</a:t>
            </a:r>
            <a:endParaRPr lang="en-US">
              <a:solidFill>
                <a:schemeClr val="lt2"/>
              </a:solidFill>
            </a:endParaRPr>
          </a:p>
        </p:txBody>
      </p:sp>
      <p:sp>
        <p:nvSpPr>
          <p:cNvPr id="114" name="Google Shape;114;p4">
            <a:extLst>
              <a:ext uri="{FF2B5EF4-FFF2-40B4-BE49-F238E27FC236}">
                <a16:creationId xmlns:a16="http://schemas.microsoft.com/office/drawing/2014/main" id="{A7D50782-333E-D4B8-F28A-74E679AAB8AE}"/>
              </a:ext>
            </a:extLst>
          </p:cNvPr>
          <p:cNvSpPr txBox="1"/>
          <p:nvPr/>
        </p:nvSpPr>
        <p:spPr>
          <a:xfrm flipH="1">
            <a:off x="6820419" y="3536632"/>
            <a:ext cx="4382100" cy="692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E4536E95-8942-AD57-EA77-9CD169C6129B}"/>
              </a:ext>
            </a:extLst>
          </p:cNvPr>
          <p:cNvSpPr txBox="1"/>
          <p:nvPr/>
        </p:nvSpPr>
        <p:spPr>
          <a:xfrm>
            <a:off x="0" y="1104372"/>
            <a:ext cx="12006942" cy="2246769"/>
          </a:xfrm>
          <a:prstGeom prst="rect">
            <a:avLst/>
          </a:prstGeom>
          <a:noFill/>
        </p:spPr>
        <p:txBody>
          <a:bodyPr wrap="square" lIns="91440" tIns="45720" rIns="91440" bIns="45720" anchor="t">
            <a:spAutoFit/>
          </a:bodyPr>
          <a:lstStyle/>
          <a:p>
            <a:pPr marL="285750" indent="-285750">
              <a:buChar char="•"/>
            </a:pPr>
            <a:r>
              <a:rPr lang="en-US" sz="2000">
                <a:ea typeface="Calibri" panose="020F0502020204030204" pitchFamily="34" charset="0"/>
              </a:rPr>
              <a:t>A </a:t>
            </a:r>
            <a:r>
              <a:rPr lang="en-US" sz="2000" b="1">
                <a:ea typeface="Calibri" panose="020F0502020204030204" pitchFamily="34" charset="0"/>
              </a:rPr>
              <a:t>lightweight Java-based application</a:t>
            </a:r>
            <a:r>
              <a:rPr lang="en-US" sz="2000">
                <a:ea typeface="Calibri" panose="020F0502020204030204" pitchFamily="34" charset="0"/>
              </a:rPr>
              <a:t> installed inside your on-prem network (data center/VPN/local server).</a:t>
            </a:r>
            <a:endParaRPr lang="en-US"/>
          </a:p>
          <a:p>
            <a:pPr marL="285750" indent="-285750">
              <a:buChar char="•"/>
            </a:pPr>
            <a:r>
              <a:rPr lang="en-US" sz="2000">
                <a:ea typeface="Calibri"/>
              </a:rPr>
              <a:t>Acts as the bridge between </a:t>
            </a:r>
            <a:r>
              <a:rPr lang="en-US" sz="2000" err="1">
                <a:ea typeface="Calibri"/>
              </a:rPr>
              <a:t>Workato</a:t>
            </a:r>
            <a:r>
              <a:rPr lang="en-US" sz="2000">
                <a:ea typeface="Calibri"/>
              </a:rPr>
              <a:t> Cloud and your internal systems.</a:t>
            </a:r>
            <a:endParaRPr lang="en-US">
              <a:ea typeface="Calibri"/>
            </a:endParaRPr>
          </a:p>
          <a:p>
            <a:pPr marL="285750" indent="-285750">
              <a:buChar char="•"/>
            </a:pPr>
            <a:r>
              <a:rPr lang="en-US" sz="2000">
                <a:ea typeface="Calibri"/>
              </a:rPr>
              <a:t>All communication happens </a:t>
            </a:r>
            <a:r>
              <a:rPr lang="en-US" sz="2000" b="1">
                <a:ea typeface="Calibri"/>
              </a:rPr>
              <a:t>securely and automatically</a:t>
            </a:r>
            <a:r>
              <a:rPr lang="en-US" sz="2000">
                <a:ea typeface="Calibri"/>
              </a:rPr>
              <a:t> through the agent.</a:t>
            </a:r>
            <a:endParaRPr lang="en-US">
              <a:ea typeface="Calibri"/>
            </a:endParaRPr>
          </a:p>
          <a:p>
            <a:pPr marL="285750" indent="-285750" defTabSz="457200">
              <a:buFont typeface="Arial"/>
              <a:buChar char="•"/>
              <a:defRPr/>
            </a:pPr>
            <a:r>
              <a:rPr lang="en-US" sz="2000" b="1">
                <a:ea typeface="+mn-ea"/>
              </a:rPr>
              <a:t>No need to expose your internal servers</a:t>
            </a:r>
            <a:r>
              <a:rPr lang="en-US" sz="2000">
                <a:ea typeface="+mn-ea"/>
              </a:rPr>
              <a:t> </a:t>
            </a:r>
            <a:r>
              <a:rPr kumimoji="0" lang="en-US" sz="2000" b="0" i="0" u="none" strike="noStrike" cap="none" spc="0" normalizeH="0" baseline="0" noProof="0">
                <a:ln>
                  <a:noFill/>
                </a:ln>
                <a:effectLst/>
                <a:uLnTx/>
                <a:uFillTx/>
                <a:ea typeface="+mn-ea"/>
              </a:rPr>
              <a:t>to </a:t>
            </a:r>
            <a:r>
              <a:rPr lang="en-US" sz="2000">
                <a:ea typeface="+mn-ea"/>
              </a:rPr>
              <a:t>the internet.</a:t>
            </a:r>
            <a:endParaRPr lang="en-US">
              <a:ea typeface="+mn-ea"/>
              <a:cs typeface="+mn-cs"/>
            </a:endParaRPr>
          </a:p>
          <a:p>
            <a:pPr marL="285750" indent="-285750" defTabSz="457200">
              <a:buFont typeface="Arial"/>
              <a:buChar char="•"/>
              <a:defRPr/>
            </a:pPr>
            <a:r>
              <a:rPr lang="en-US" sz="2000" b="1">
                <a:ea typeface="+mn-ea"/>
              </a:rPr>
              <a:t>No inbound ports</a:t>
            </a:r>
            <a:r>
              <a:rPr lang="en-US" sz="2000">
                <a:ea typeface="+mn-ea"/>
              </a:rPr>
              <a:t> need to be opened </a:t>
            </a:r>
            <a:r>
              <a:rPr kumimoji="0" lang="en-US" sz="2000" b="0" i="0" u="none" strike="noStrike" cap="none" spc="0" normalizeH="0" baseline="0" noProof="0">
                <a:ln>
                  <a:noFill/>
                </a:ln>
                <a:effectLst/>
                <a:uLnTx/>
                <a:uFillTx/>
                <a:ea typeface="+mn-ea"/>
              </a:rPr>
              <a:t>in </a:t>
            </a:r>
            <a:r>
              <a:rPr lang="en-US" sz="2000">
                <a:ea typeface="+mn-ea"/>
              </a:rPr>
              <a:t>your firewall.</a:t>
            </a:r>
            <a:endParaRPr lang="en-US">
              <a:ea typeface="+mn-ea"/>
              <a:cs typeface="+mn-cs"/>
            </a:endParaRPr>
          </a:p>
          <a:p>
            <a:pPr algn="l"/>
            <a:endParaRPr lang="en-US" sz="2000" b="0" i="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1603013"/>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DFFB6EF7-1024-0279-6A68-A2AC7213C55D}"/>
            </a:ext>
          </a:extLst>
        </p:cNvPr>
        <p:cNvGrpSpPr/>
        <p:nvPr/>
      </p:nvGrpSpPr>
      <p:grpSpPr>
        <a:xfrm>
          <a:off x="0" y="0"/>
          <a:ext cx="0" cy="0"/>
          <a:chOff x="0" y="0"/>
          <a:chExt cx="0" cy="0"/>
        </a:xfrm>
      </p:grpSpPr>
      <p:pic>
        <p:nvPicPr>
          <p:cNvPr id="126" name="Google Shape;126;p6">
            <a:extLst>
              <a:ext uri="{FF2B5EF4-FFF2-40B4-BE49-F238E27FC236}">
                <a16:creationId xmlns:a16="http://schemas.microsoft.com/office/drawing/2014/main" id="{B6F3D2A2-F6BA-E719-2A7F-6B38696AC1D2}"/>
              </a:ext>
            </a:extLst>
          </p:cNvPr>
          <p:cNvPicPr preferRelativeResize="0"/>
          <p:nvPr/>
        </p:nvPicPr>
        <p:blipFill rotWithShape="1">
          <a:blip r:embed="rId3">
            <a:alphaModFix/>
          </a:blip>
          <a:srcRect/>
          <a:stretch/>
        </p:blipFill>
        <p:spPr>
          <a:xfrm>
            <a:off x="8283648" y="5689283"/>
            <a:ext cx="3663950" cy="1017270"/>
          </a:xfrm>
          <a:prstGeom prst="rect">
            <a:avLst/>
          </a:prstGeom>
          <a:noFill/>
          <a:ln>
            <a:noFill/>
          </a:ln>
        </p:spPr>
      </p:pic>
      <p:sp>
        <p:nvSpPr>
          <p:cNvPr id="127" name="Google Shape;127;p6">
            <a:extLst>
              <a:ext uri="{FF2B5EF4-FFF2-40B4-BE49-F238E27FC236}">
                <a16:creationId xmlns:a16="http://schemas.microsoft.com/office/drawing/2014/main" id="{0B1B415F-3CEE-1233-785F-23A55C83F915}"/>
              </a:ext>
            </a:extLst>
          </p:cNvPr>
          <p:cNvSpPr/>
          <p:nvPr/>
        </p:nvSpPr>
        <p:spPr>
          <a:xfrm>
            <a:off x="-23599" y="28"/>
            <a:ext cx="12215599" cy="660054"/>
          </a:xfrm>
          <a:prstGeom prst="rect">
            <a:avLst/>
          </a:prstGeom>
          <a:solidFill>
            <a:srgbClr val="1F394D"/>
          </a:solidFill>
          <a:ln>
            <a:noFill/>
          </a:ln>
        </p:spPr>
        <p:txBody>
          <a:bodyPr spcFirstLastPara="1" wrap="square" lIns="91425" tIns="45700" rIns="91425" bIns="45700" anchor="ctr" anchorCtr="0">
            <a:noAutofit/>
          </a:bodyPr>
          <a:lstStyle/>
          <a:p>
            <a:pPr algn="ctr"/>
            <a:r>
              <a:rPr lang="en-IN" sz="4400" kern="1200">
                <a:solidFill>
                  <a:schemeClr val="bg1"/>
                </a:solidFill>
                <a:ea typeface="Calibri"/>
              </a:rPr>
              <a:t>Secure Connection Architecture</a:t>
            </a:r>
            <a:endParaRPr lang="en-US">
              <a:solidFill>
                <a:schemeClr val="bg1"/>
              </a:solidFill>
            </a:endParaRPr>
          </a:p>
        </p:txBody>
      </p:sp>
      <p:sp>
        <p:nvSpPr>
          <p:cNvPr id="3" name="TextBox 2">
            <a:extLst>
              <a:ext uri="{FF2B5EF4-FFF2-40B4-BE49-F238E27FC236}">
                <a16:creationId xmlns:a16="http://schemas.microsoft.com/office/drawing/2014/main" id="{C24B2B0B-CCBB-D717-669C-761CFE966603}"/>
              </a:ext>
            </a:extLst>
          </p:cNvPr>
          <p:cNvSpPr txBox="1"/>
          <p:nvPr/>
        </p:nvSpPr>
        <p:spPr>
          <a:xfrm>
            <a:off x="0" y="660082"/>
            <a:ext cx="12192000" cy="2616101"/>
          </a:xfrm>
          <a:prstGeom prst="rect">
            <a:avLst/>
          </a:prstGeom>
          <a:noFill/>
        </p:spPr>
        <p:txBody>
          <a:bodyPr wrap="square" lIns="91440" tIns="45720" rIns="91440" bIns="45720" anchor="t">
            <a:spAutoFit/>
          </a:bodyPr>
          <a:lstStyle/>
          <a:p>
            <a:pPr marL="342900" indent="-342900" defTabSz="457200">
              <a:buClrTx/>
              <a:buChar char="•"/>
              <a:defRPr/>
            </a:pPr>
            <a:r>
              <a:rPr lang="en-US" sz="2000" kern="1200">
                <a:solidFill>
                  <a:prstClr val="black"/>
                </a:solidFill>
                <a:ea typeface="Calibri"/>
              </a:rPr>
              <a:t>The On-Prem Agent creates </a:t>
            </a:r>
            <a:r>
              <a:rPr lang="en-US" sz="2000" b="1" kern="1200">
                <a:solidFill>
                  <a:prstClr val="black"/>
                </a:solidFill>
                <a:ea typeface="Calibri"/>
              </a:rPr>
              <a:t>outbound-only HTTPS connections</a:t>
            </a:r>
            <a:r>
              <a:rPr lang="en-US" sz="2000" kern="1200">
                <a:solidFill>
                  <a:prstClr val="black"/>
                </a:solidFill>
                <a:ea typeface="Calibri"/>
              </a:rPr>
              <a:t> to </a:t>
            </a:r>
            <a:r>
              <a:rPr lang="en-US" sz="2000" kern="1200" err="1">
                <a:solidFill>
                  <a:prstClr val="black"/>
                </a:solidFill>
                <a:ea typeface="Calibri"/>
              </a:rPr>
              <a:t>Workato</a:t>
            </a:r>
            <a:r>
              <a:rPr lang="en-US" sz="2000" kern="1200">
                <a:solidFill>
                  <a:prstClr val="black"/>
                </a:solidFill>
                <a:ea typeface="Calibri"/>
              </a:rPr>
              <a:t> Cloud.</a:t>
            </a:r>
            <a:endParaRPr lang="en-US" sz="2000">
              <a:solidFill>
                <a:prstClr val="black"/>
              </a:solidFill>
              <a:ea typeface="+mn-ea"/>
            </a:endParaRPr>
          </a:p>
          <a:p>
            <a:pPr marL="342900" indent="-342900" defTabSz="457200">
              <a:buClrTx/>
              <a:buChar char="•"/>
              <a:defRPr/>
            </a:pPr>
            <a:r>
              <a:rPr lang="en-US" sz="2000" kern="1200">
                <a:solidFill>
                  <a:prstClr val="black"/>
                </a:solidFill>
                <a:ea typeface="Calibri"/>
              </a:rPr>
              <a:t>Uses </a:t>
            </a:r>
            <a:r>
              <a:rPr lang="en-US" sz="2000" b="1" kern="1200">
                <a:solidFill>
                  <a:prstClr val="black"/>
                </a:solidFill>
                <a:ea typeface="Calibri"/>
              </a:rPr>
              <a:t>mutual TLS </a:t>
            </a:r>
            <a:r>
              <a:rPr kumimoji="0" lang="en-US" sz="2000" b="1" i="0" u="none" strike="noStrike" kern="1200" cap="none" spc="0" normalizeH="0" baseline="0" noProof="0">
                <a:ln>
                  <a:noFill/>
                </a:ln>
                <a:solidFill>
                  <a:prstClr val="black"/>
                </a:solidFill>
                <a:effectLst/>
                <a:uLnTx/>
                <a:uFillTx/>
                <a:ea typeface="Calibri"/>
              </a:rPr>
              <a:t>(</a:t>
            </a:r>
            <a:r>
              <a:rPr lang="en-US" sz="2000" b="1" kern="1200" err="1">
                <a:solidFill>
                  <a:prstClr val="black"/>
                </a:solidFill>
                <a:ea typeface="Calibri"/>
              </a:rPr>
              <a:t>mTLS</a:t>
            </a:r>
            <a:r>
              <a:rPr kumimoji="0" lang="en-US" sz="2000" b="1" i="0" u="none" strike="noStrike" kern="1200" cap="none" spc="0" normalizeH="0" baseline="0" noProof="0">
                <a:ln>
                  <a:noFill/>
                </a:ln>
                <a:solidFill>
                  <a:prstClr val="black"/>
                </a:solidFill>
                <a:effectLst/>
                <a:uLnTx/>
                <a:uFillTx/>
                <a:ea typeface="Calibri"/>
              </a:rPr>
              <a:t>)</a:t>
            </a:r>
            <a:r>
              <a:rPr kumimoji="0" lang="en-US" sz="2000" b="0" i="0" u="none" strike="noStrike" kern="1200" cap="none" spc="0" normalizeH="0" baseline="0" noProof="0">
                <a:ln>
                  <a:noFill/>
                </a:ln>
                <a:solidFill>
                  <a:prstClr val="black"/>
                </a:solidFill>
                <a:effectLst/>
                <a:uLnTx/>
                <a:uFillTx/>
                <a:ea typeface="Calibri"/>
              </a:rPr>
              <a:t>, </a:t>
            </a:r>
            <a:r>
              <a:rPr lang="en-US" sz="2000" kern="1200">
                <a:solidFill>
                  <a:prstClr val="black"/>
                </a:solidFill>
                <a:ea typeface="Calibri"/>
              </a:rPr>
              <a:t>where both </a:t>
            </a:r>
            <a:r>
              <a:rPr lang="en-US" sz="2000" kern="1200" err="1">
                <a:solidFill>
                  <a:prstClr val="black"/>
                </a:solidFill>
                <a:ea typeface="Calibri"/>
              </a:rPr>
              <a:t>Workato</a:t>
            </a:r>
            <a:r>
              <a:rPr lang="en-US" sz="2000" kern="1200">
                <a:solidFill>
                  <a:prstClr val="black"/>
                </a:solidFill>
                <a:ea typeface="Calibri"/>
              </a:rPr>
              <a:t> Cloud and the agent verify each other using certificates.</a:t>
            </a:r>
            <a:endParaRPr lang="en-US" sz="2000">
              <a:solidFill>
                <a:prstClr val="black"/>
              </a:solidFill>
            </a:endParaRPr>
          </a:p>
          <a:p>
            <a:pPr marL="342900" indent="-342900" defTabSz="457200">
              <a:buClrTx/>
              <a:buChar char="•"/>
              <a:defRPr/>
            </a:pPr>
            <a:r>
              <a:rPr lang="en-US" sz="2000" kern="1200">
                <a:solidFill>
                  <a:prstClr val="black"/>
                </a:solidFill>
                <a:ea typeface="Calibri"/>
              </a:rPr>
              <a:t>No external system directly accesses your on-prem servers.</a:t>
            </a:r>
            <a:endParaRPr lang="en-US" sz="2000">
              <a:solidFill>
                <a:prstClr val="black"/>
              </a:solidFill>
            </a:endParaRPr>
          </a:p>
          <a:p>
            <a:pPr marL="342900" indent="-342900" defTabSz="457200">
              <a:buClrTx/>
              <a:buChar char="•"/>
              <a:defRPr/>
            </a:pPr>
            <a:r>
              <a:rPr lang="en-US" sz="2000" kern="1200">
                <a:solidFill>
                  <a:prstClr val="black"/>
                </a:solidFill>
                <a:ea typeface="Calibri"/>
              </a:rPr>
              <a:t>All messages between cloud and on-prem flow through </a:t>
            </a:r>
            <a:r>
              <a:rPr lang="en-US" sz="2000" b="1" kern="1200">
                <a:solidFill>
                  <a:prstClr val="black"/>
                </a:solidFill>
                <a:ea typeface="Calibri"/>
              </a:rPr>
              <a:t>secure encrypted tunnels</a:t>
            </a:r>
            <a:r>
              <a:rPr lang="en-US" sz="2000" kern="1200">
                <a:solidFill>
                  <a:prstClr val="black"/>
                </a:solidFill>
                <a:ea typeface="Calibri"/>
              </a:rPr>
              <a:t> created by the agent.</a:t>
            </a:r>
            <a:endParaRPr lang="en-US" sz="2000">
              <a:solidFill>
                <a:prstClr val="black"/>
              </a:solidFill>
            </a:endParaRPr>
          </a:p>
          <a:p>
            <a:pPr marL="342900" indent="-342900" defTabSz="457200">
              <a:buClrTx/>
              <a:buChar char="•"/>
              <a:defRPr/>
            </a:pPr>
            <a:r>
              <a:rPr lang="en-US" sz="2000" kern="1200">
                <a:solidFill>
                  <a:prstClr val="black"/>
                </a:solidFill>
                <a:ea typeface="Calibri"/>
              </a:rPr>
              <a:t>This design ensures that your internal systems stay isolated and safe.</a:t>
            </a:r>
            <a:endParaRPr lang="en-US" sz="2000">
              <a:solidFill>
                <a:prstClr val="black"/>
              </a:solidFill>
            </a:endParaRPr>
          </a:p>
          <a:p>
            <a:pPr marL="342900" indent="-342900" defTabSz="457200">
              <a:spcBef>
                <a:spcPct val="20000"/>
              </a:spcBef>
              <a:buClrTx/>
              <a:buFont typeface="Arial"/>
              <a:buChar char="•"/>
              <a:defRPr/>
            </a:pPr>
            <a:endParaRPr lang="en-US" sz="2000" kern="1200">
              <a:solidFill>
                <a:prstClr val="black"/>
              </a:solidFill>
              <a:latin typeface="Calibri"/>
              <a:ea typeface="Calibri"/>
              <a:cs typeface="Calibri"/>
            </a:endParaRPr>
          </a:p>
        </p:txBody>
      </p:sp>
    </p:spTree>
    <p:extLst>
      <p:ext uri="{BB962C8B-B14F-4D97-AF65-F5344CB8AC3E}">
        <p14:creationId xmlns:p14="http://schemas.microsoft.com/office/powerpoint/2010/main" val="378446187"/>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6"/>
          <p:cNvPicPr preferRelativeResize="0"/>
          <p:nvPr/>
        </p:nvPicPr>
        <p:blipFill rotWithShape="1">
          <a:blip r:embed="rId3">
            <a:alphaModFix/>
          </a:blip>
          <a:srcRect/>
          <a:stretch/>
        </p:blipFill>
        <p:spPr>
          <a:xfrm>
            <a:off x="8745764" y="6197918"/>
            <a:ext cx="3663950" cy="1017270"/>
          </a:xfrm>
          <a:prstGeom prst="rect">
            <a:avLst/>
          </a:prstGeom>
          <a:noFill/>
          <a:ln>
            <a:noFill/>
          </a:ln>
        </p:spPr>
      </p:pic>
      <p:sp>
        <p:nvSpPr>
          <p:cNvPr id="127" name="Google Shape;127;p6"/>
          <p:cNvSpPr/>
          <p:nvPr/>
        </p:nvSpPr>
        <p:spPr>
          <a:xfrm>
            <a:off x="-23599" y="28"/>
            <a:ext cx="12215599" cy="660054"/>
          </a:xfrm>
          <a:prstGeom prst="rect">
            <a:avLst/>
          </a:prstGeom>
          <a:solidFill>
            <a:srgbClr val="1F394D"/>
          </a:solidFill>
          <a:ln>
            <a:noFill/>
          </a:ln>
        </p:spPr>
        <p:txBody>
          <a:bodyPr spcFirstLastPara="1" wrap="square" lIns="91425" tIns="45700" rIns="91425" bIns="45700" anchor="ctr" anchorCtr="0">
            <a:noAutofit/>
          </a:bodyPr>
          <a:lstStyle/>
          <a:p>
            <a:pPr algn="ctr"/>
            <a:r>
              <a:rPr lang="en-IN" sz="4400" kern="1200">
                <a:solidFill>
                  <a:schemeClr val="bg1"/>
                </a:solidFill>
                <a:ea typeface="+mj-ea"/>
              </a:rPr>
              <a:t>Why Outbound-Only</a:t>
            </a:r>
            <a:endParaRPr lang="en-US">
              <a:solidFill>
                <a:schemeClr val="bg1"/>
              </a:solidFill>
            </a:endParaRPr>
          </a:p>
        </p:txBody>
      </p:sp>
      <p:sp>
        <p:nvSpPr>
          <p:cNvPr id="3" name="TextBox 2">
            <a:extLst>
              <a:ext uri="{FF2B5EF4-FFF2-40B4-BE49-F238E27FC236}">
                <a16:creationId xmlns:a16="http://schemas.microsoft.com/office/drawing/2014/main" id="{C376B652-3006-5496-8389-CDDF56DAC918}"/>
              </a:ext>
            </a:extLst>
          </p:cNvPr>
          <p:cNvSpPr txBox="1"/>
          <p:nvPr/>
        </p:nvSpPr>
        <p:spPr>
          <a:xfrm>
            <a:off x="0" y="660082"/>
            <a:ext cx="12192000" cy="5823133"/>
          </a:xfrm>
          <a:prstGeom prst="rect">
            <a:avLst/>
          </a:prstGeom>
          <a:noFill/>
        </p:spPr>
        <p:txBody>
          <a:bodyPr wrap="square" lIns="91440" tIns="45720" rIns="91440" bIns="45720" anchor="t">
            <a:spAutoFit/>
          </a:bodyPr>
          <a:lstStyle/>
          <a:p>
            <a:pPr defTabSz="457200">
              <a:buClrTx/>
              <a:buFont typeface="Arial"/>
              <a:buChar char="•"/>
              <a:defRPr/>
            </a:pPr>
            <a:r>
              <a:rPr lang="en-IN" b="1"/>
              <a:t>Major Security Benefits</a:t>
            </a:r>
            <a:endParaRPr lang="en-US"/>
          </a:p>
          <a:p>
            <a:pPr defTabSz="457200">
              <a:buClrTx/>
              <a:buFont typeface="Arial"/>
              <a:buChar char="•"/>
              <a:defRPr/>
            </a:pPr>
            <a:r>
              <a:rPr lang="en-IN" sz="3200" kern="1200">
                <a:solidFill>
                  <a:prstClr val="black"/>
                </a:solidFill>
                <a:ea typeface="+mn-ea"/>
              </a:rPr>
              <a:t>Your </a:t>
            </a:r>
            <a:r>
              <a:rPr lang="en-IN" sz="3200" b="1" kern="1200">
                <a:solidFill>
                  <a:prstClr val="black"/>
                </a:solidFill>
                <a:ea typeface="+mn-ea"/>
              </a:rPr>
              <a:t>firewall remains closed</a:t>
            </a:r>
            <a:r>
              <a:rPr lang="en-IN" sz="3200" kern="1200">
                <a:solidFill>
                  <a:prstClr val="black"/>
                </a:solidFill>
                <a:ea typeface="+mn-ea"/>
              </a:rPr>
              <a:t> to the outside world.</a:t>
            </a:r>
            <a:endParaRPr lang="en-IN"/>
          </a:p>
          <a:p>
            <a:pPr defTabSz="457200">
              <a:buClrTx/>
              <a:buFont typeface="Arial"/>
              <a:buChar char="•"/>
              <a:defRPr/>
            </a:pPr>
            <a:r>
              <a:rPr lang="en-IN" sz="3200" kern="1200">
                <a:solidFill>
                  <a:prstClr val="black"/>
                </a:solidFill>
                <a:ea typeface="+mn-ea"/>
              </a:rPr>
              <a:t>No public IP or external access is required for internal resources.</a:t>
            </a:r>
            <a:endParaRPr lang="en-IN"/>
          </a:p>
          <a:p>
            <a:pPr defTabSz="457200">
              <a:buClrTx/>
              <a:buFont typeface="Arial"/>
              <a:buChar char="•"/>
              <a:defRPr/>
            </a:pPr>
            <a:r>
              <a:rPr lang="en-IN" sz="3200" kern="1200">
                <a:solidFill>
                  <a:prstClr val="black"/>
                </a:solidFill>
                <a:ea typeface="+mn-ea"/>
              </a:rPr>
              <a:t>All activity is triggered from inside your network → safe from external attacks.</a:t>
            </a:r>
            <a:endParaRPr lang="en-IN">
              <a:ea typeface="+mn-ea"/>
              <a:cs typeface="+mn-cs"/>
            </a:endParaRPr>
          </a:p>
          <a:p>
            <a:pPr defTabSz="457200">
              <a:buClrTx/>
              <a:buFont typeface="Arial"/>
              <a:buChar char="•"/>
              <a:defRPr/>
            </a:pPr>
            <a:r>
              <a:rPr lang="en-IN" sz="3200" kern="1200">
                <a:solidFill>
                  <a:prstClr val="black"/>
                </a:solidFill>
                <a:ea typeface="+mn-ea"/>
              </a:rPr>
              <a:t>Reduces risks such as</a:t>
            </a:r>
            <a:r>
              <a:rPr kumimoji="0" lang="en-IN" sz="3200" b="0" i="0" u="none" strike="noStrike" kern="1200" cap="none" spc="0" normalizeH="0" baseline="0" noProof="0">
                <a:ln>
                  <a:noFill/>
                </a:ln>
                <a:solidFill>
                  <a:prstClr val="black"/>
                </a:solidFill>
                <a:effectLst/>
                <a:uLnTx/>
                <a:uFillTx/>
                <a:ea typeface="+mn-ea"/>
              </a:rPr>
              <a:t>:</a:t>
            </a:r>
            <a:endParaRPr lang="en-IN">
              <a:solidFill>
                <a:prstClr val="black"/>
              </a:solidFill>
              <a:ea typeface="+mn-ea"/>
            </a:endParaRPr>
          </a:p>
          <a:p>
            <a:pPr lvl="1" defTabSz="457200">
              <a:buClrTx/>
              <a:buFont typeface="Arial"/>
              <a:buChar char="•"/>
              <a:defRPr/>
            </a:pPr>
            <a:r>
              <a:rPr kumimoji="0" lang="en-IN" sz="3200" b="0" i="0" u="none" strike="noStrike" kern="1200" cap="none" spc="0" normalizeH="0" baseline="0" noProof="0">
                <a:ln>
                  <a:noFill/>
                </a:ln>
                <a:solidFill>
                  <a:prstClr val="black"/>
                </a:solidFill>
                <a:effectLst/>
                <a:uLnTx/>
                <a:uFillTx/>
                <a:ea typeface="+mn-ea"/>
              </a:rPr>
              <a:t>Port </a:t>
            </a:r>
            <a:r>
              <a:rPr lang="en-IN" sz="3200" kern="1200">
                <a:solidFill>
                  <a:prstClr val="black"/>
                </a:solidFill>
                <a:ea typeface="+mn-ea"/>
              </a:rPr>
              <a:t>scanning</a:t>
            </a:r>
            <a:endParaRPr lang="en-IN"/>
          </a:p>
          <a:p>
            <a:pPr lvl="1" defTabSz="457200">
              <a:buClrTx/>
              <a:buFont typeface="Arial"/>
              <a:buChar char="•"/>
              <a:defRPr/>
            </a:pPr>
            <a:r>
              <a:rPr lang="en-IN" sz="3200" kern="1200">
                <a:solidFill>
                  <a:prstClr val="black"/>
                </a:solidFill>
                <a:ea typeface="+mn-ea"/>
              </a:rPr>
              <a:t>Unauthorized connections</a:t>
            </a:r>
            <a:endParaRPr lang="en-IN"/>
          </a:p>
          <a:p>
            <a:pPr lvl="1" defTabSz="457200">
              <a:buClrTx/>
              <a:buFont typeface="Arial"/>
              <a:buChar char="•"/>
              <a:defRPr/>
            </a:pPr>
            <a:r>
              <a:rPr lang="en-IN" sz="3200" kern="1200">
                <a:solidFill>
                  <a:prstClr val="black"/>
                </a:solidFill>
                <a:ea typeface="+mn-ea"/>
              </a:rPr>
              <a:t>DDOS attacks</a:t>
            </a:r>
            <a:endParaRPr lang="en-IN"/>
          </a:p>
          <a:p>
            <a:pPr lvl="1" defTabSz="457200">
              <a:buClrTx/>
              <a:buFont typeface="Arial"/>
              <a:buChar char="•"/>
              <a:defRPr/>
            </a:pPr>
            <a:r>
              <a:rPr lang="en-IN" sz="3200" kern="1200">
                <a:solidFill>
                  <a:prstClr val="black"/>
                </a:solidFill>
                <a:ea typeface="+mn-ea"/>
              </a:rPr>
              <a:t>Exploits and malware</a:t>
            </a:r>
            <a:endParaRPr lang="en-IN"/>
          </a:p>
          <a:p>
            <a:pPr defTabSz="457200">
              <a:buClrTx/>
              <a:buFont typeface="Arial"/>
              <a:buChar char="•"/>
              <a:defRPr/>
            </a:pPr>
            <a:r>
              <a:rPr lang="en-IN" sz="3200" kern="1200">
                <a:solidFill>
                  <a:prstClr val="black"/>
                </a:solidFill>
                <a:ea typeface="+mn-ea"/>
              </a:rPr>
              <a:t>Ensures </a:t>
            </a:r>
            <a:r>
              <a:rPr lang="en-IN" sz="3200" b="1" kern="1200">
                <a:solidFill>
                  <a:prstClr val="black"/>
                </a:solidFill>
                <a:ea typeface="+mn-ea"/>
              </a:rPr>
              <a:t>industry-standard security compliance</a:t>
            </a:r>
            <a:r>
              <a:rPr lang="en-IN" sz="3200" kern="1200">
                <a:solidFill>
                  <a:prstClr val="black"/>
                </a:solidFill>
                <a:ea typeface="+mn-ea"/>
              </a:rPr>
              <a:t>.</a:t>
            </a:r>
            <a:endParaRPr lang="en-IN">
              <a:ea typeface="+mn-ea"/>
              <a:cs typeface="+mn-cs"/>
            </a:endParaRPr>
          </a:p>
          <a:p>
            <a:pPr marL="342900" marR="0" lvl="0" indent="-342900" algn="l" defTabSz="457200">
              <a:lnSpc>
                <a:spcPct val="100000"/>
              </a:lnSpc>
              <a:spcBef>
                <a:spcPct val="20000"/>
              </a:spcBef>
              <a:spcAft>
                <a:spcPts val="0"/>
              </a:spcAft>
              <a:buClrTx/>
              <a:buSzTx/>
              <a:buFont typeface="Arial"/>
              <a:buChar char="•"/>
              <a:tabLst/>
              <a:defRPr/>
            </a:pPr>
            <a:endParaRPr lang="en-IN" sz="3200" b="0" i="0" u="none" strike="noStrike" kern="1200" cap="none" spc="0" normalizeH="0" baseline="0" noProof="0">
              <a:ln>
                <a:noFill/>
              </a:ln>
              <a:solidFill>
                <a:prstClr val="black"/>
              </a:solidFill>
              <a:effectLst/>
              <a:uLnTx/>
              <a:uFillTx/>
              <a:latin typeface="Calibri"/>
              <a:ea typeface="Calibri"/>
              <a:cs typeface="Calibri"/>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body" idx="1"/>
          </p:nvPr>
        </p:nvSpPr>
        <p:spPr>
          <a:xfrm>
            <a:off x="76201" y="751114"/>
            <a:ext cx="12115800" cy="5068027"/>
          </a:xfrm>
          <a:prstGeom prst="rect">
            <a:avLst/>
          </a:prstGeom>
          <a:noFill/>
          <a:ln>
            <a:noFill/>
          </a:ln>
        </p:spPr>
        <p:txBody>
          <a:bodyPr spcFirstLastPara="1" wrap="square" lIns="91425" tIns="45700" rIns="91425" bIns="45700" anchor="t" anchorCtr="0">
            <a:noAutofit/>
          </a:bodyPr>
          <a:lstStyle/>
          <a:p>
            <a:pPr marL="228600" lvl="0" indent="0" algn="l" rtl="0">
              <a:lnSpc>
                <a:spcPct val="150000"/>
              </a:lnSpc>
              <a:spcBef>
                <a:spcPts val="1000"/>
              </a:spcBef>
              <a:spcAft>
                <a:spcPts val="0"/>
              </a:spcAft>
              <a:buNone/>
            </a:pPr>
            <a:endParaRPr sz="2400">
              <a:solidFill>
                <a:srgbClr val="3F739B"/>
              </a:solidFill>
              <a:latin typeface="Times New Roman"/>
              <a:ea typeface="Times New Roman"/>
              <a:cs typeface="Times New Roman"/>
              <a:sym typeface="Times New Roman"/>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prstClr val="black"/>
                </a:solidFill>
                <a:effectLst/>
                <a:uLnTx/>
                <a:uFillTx/>
                <a:latin typeface="Calibri"/>
                <a:ea typeface="+mn-ea"/>
                <a:cs typeface="+mn-cs"/>
              </a:rPr>
              <a:t>Scenario: Automatically fetch invoices from mailbox</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prstClr val="black"/>
                </a:solidFill>
                <a:effectLst/>
                <a:uLnTx/>
                <a:uFillTx/>
                <a:latin typeface="Calibri"/>
                <a:ea typeface="+mn-ea"/>
                <a:cs typeface="+mn-cs"/>
              </a:rPr>
              <a:t>Flow: Mail Connector (Get) → Mapping and Storage</a:t>
            </a:r>
          </a:p>
          <a:p>
            <a:pPr marL="228600" lvl="0" indent="-60960" algn="l" rtl="0">
              <a:lnSpc>
                <a:spcPct val="150000"/>
              </a:lnSpc>
              <a:spcBef>
                <a:spcPts val="1000"/>
              </a:spcBef>
              <a:spcAft>
                <a:spcPts val="0"/>
              </a:spcAft>
              <a:buClr>
                <a:schemeClr val="dk1"/>
              </a:buClr>
              <a:buSzPts val="2640"/>
              <a:buFont typeface="Noto Sans Symbols"/>
              <a:buNone/>
            </a:pPr>
            <a:endParaRPr lang="en-IN" sz="2400">
              <a:solidFill>
                <a:srgbClr val="3F739B"/>
              </a:solidFill>
              <a:latin typeface="Times New Roman"/>
              <a:ea typeface="Times New Roman"/>
              <a:cs typeface="Times New Roman"/>
              <a:sym typeface="Times New Roman"/>
            </a:endParaRPr>
          </a:p>
        </p:txBody>
      </p:sp>
      <p:pic>
        <p:nvPicPr>
          <p:cNvPr id="120" name="Google Shape;120;p5"/>
          <p:cNvPicPr preferRelativeResize="0"/>
          <p:nvPr/>
        </p:nvPicPr>
        <p:blipFill rotWithShape="1">
          <a:blip r:embed="rId3">
            <a:alphaModFix/>
          </a:blip>
          <a:srcRect/>
          <a:stretch/>
        </p:blipFill>
        <p:spPr>
          <a:xfrm>
            <a:off x="8528050" y="5819140"/>
            <a:ext cx="3663950" cy="1017270"/>
          </a:xfrm>
          <a:prstGeom prst="rect">
            <a:avLst/>
          </a:prstGeom>
          <a:noFill/>
          <a:ln>
            <a:noFill/>
          </a:ln>
        </p:spPr>
      </p:pic>
      <p:sp>
        <p:nvSpPr>
          <p:cNvPr id="121" name="Google Shape;121;p5"/>
          <p:cNvSpPr/>
          <p:nvPr/>
        </p:nvSpPr>
        <p:spPr>
          <a:xfrm>
            <a:off x="-23599" y="-5706"/>
            <a:ext cx="12215599" cy="660054"/>
          </a:xfrm>
          <a:prstGeom prst="rect">
            <a:avLst/>
          </a:prstGeom>
          <a:solidFill>
            <a:srgbClr val="1F39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kumimoji="0" lang="en-IN" sz="4400" b="0" i="0" u="none" strike="noStrike" kern="1200" cap="none" spc="0" normalizeH="0" baseline="0" noProof="0">
                <a:ln>
                  <a:noFill/>
                </a:ln>
                <a:solidFill>
                  <a:schemeClr val="bg1"/>
                </a:solidFill>
                <a:effectLst/>
                <a:uLnTx/>
                <a:uFillTx/>
                <a:latin typeface="Calibri"/>
                <a:ea typeface="+mj-ea"/>
                <a:cs typeface="+mj-cs"/>
              </a:rPr>
              <a:t>Use Case - Receiving Emails</a:t>
            </a:r>
            <a:endParaRPr lang="en-US">
              <a:solidFill>
                <a:schemeClr val="bg1"/>
              </a:solidFill>
              <a:latin typeface="Calibri"/>
              <a:ea typeface="Calibri"/>
              <a:cs typeface="Calibri"/>
              <a:sym typeface="Calibri"/>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3C0E4B5-E8DC-A27E-B85A-D9D0CCA6B405}"/>
            </a:ext>
          </a:extLst>
        </p:cNvPr>
        <p:cNvGrpSpPr/>
        <p:nvPr/>
      </p:nvGrpSpPr>
      <p:grpSpPr>
        <a:xfrm>
          <a:off x="0" y="0"/>
          <a:ext cx="0" cy="0"/>
          <a:chOff x="0" y="0"/>
          <a:chExt cx="0" cy="0"/>
        </a:xfrm>
      </p:grpSpPr>
      <p:sp>
        <p:nvSpPr>
          <p:cNvPr id="119" name="Google Shape;119;p5">
            <a:extLst>
              <a:ext uri="{FF2B5EF4-FFF2-40B4-BE49-F238E27FC236}">
                <a16:creationId xmlns:a16="http://schemas.microsoft.com/office/drawing/2014/main" id="{488BCCB7-5F6C-6445-04B4-F666E733BF81}"/>
              </a:ext>
            </a:extLst>
          </p:cNvPr>
          <p:cNvSpPr txBox="1">
            <a:spLocks noGrp="1"/>
          </p:cNvSpPr>
          <p:nvPr>
            <p:ph type="body" idx="1"/>
          </p:nvPr>
        </p:nvSpPr>
        <p:spPr>
          <a:xfrm>
            <a:off x="-1" y="654348"/>
            <a:ext cx="12192001" cy="5549303"/>
          </a:xfrm>
          <a:prstGeom prst="rect">
            <a:avLst/>
          </a:prstGeom>
          <a:noFill/>
          <a:ln>
            <a:noFill/>
          </a:ln>
        </p:spPr>
        <p:txBody>
          <a:bodyPr spcFirstLastPara="1" wrap="square" lIns="91425" tIns="45700" rIns="91425" bIns="45700" anchor="t" anchorCtr="0">
            <a:noAutofit/>
          </a:bodyPr>
          <a:lstStyle/>
          <a:p>
            <a:pPr marL="228600" lvl="0" indent="0" algn="l" rtl="0">
              <a:lnSpc>
                <a:spcPct val="150000"/>
              </a:lnSpc>
              <a:spcBef>
                <a:spcPts val="1000"/>
              </a:spcBef>
              <a:spcAft>
                <a:spcPts val="0"/>
              </a:spcAft>
              <a:buNone/>
            </a:pPr>
            <a:endParaRPr sz="2400">
              <a:solidFill>
                <a:srgbClr val="3F739B"/>
              </a:solidFill>
              <a:latin typeface="Times New Roman"/>
              <a:ea typeface="Times New Roman"/>
              <a:cs typeface="Times New Roman"/>
              <a:sym typeface="Times New Roman"/>
            </a:endParaRPr>
          </a:p>
          <a:p>
            <a:pPr marL="228600" lvl="0" indent="-60960" algn="l" rtl="0">
              <a:lnSpc>
                <a:spcPct val="150000"/>
              </a:lnSpc>
              <a:spcBef>
                <a:spcPts val="1000"/>
              </a:spcBef>
              <a:spcAft>
                <a:spcPts val="0"/>
              </a:spcAft>
              <a:buClr>
                <a:schemeClr val="dk1"/>
              </a:buClr>
              <a:buSzPts val="2640"/>
              <a:buFont typeface="Noto Sans Symbols"/>
              <a:buNone/>
            </a:pPr>
            <a:endParaRPr sz="2400">
              <a:solidFill>
                <a:srgbClr val="3F739B"/>
              </a:solidFill>
              <a:latin typeface="Times New Roman"/>
              <a:ea typeface="Times New Roman"/>
              <a:cs typeface="Times New Roman"/>
              <a:sym typeface="Times New Roman"/>
            </a:endParaRPr>
          </a:p>
        </p:txBody>
      </p:sp>
      <p:pic>
        <p:nvPicPr>
          <p:cNvPr id="120" name="Google Shape;120;p5">
            <a:extLst>
              <a:ext uri="{FF2B5EF4-FFF2-40B4-BE49-F238E27FC236}">
                <a16:creationId xmlns:a16="http://schemas.microsoft.com/office/drawing/2014/main" id="{B10E16E2-B153-E13C-8403-CBD7F5CFCE10}"/>
              </a:ext>
            </a:extLst>
          </p:cNvPr>
          <p:cNvPicPr preferRelativeResize="0"/>
          <p:nvPr/>
        </p:nvPicPr>
        <p:blipFill rotWithShape="1">
          <a:blip r:embed="rId3">
            <a:alphaModFix/>
          </a:blip>
          <a:srcRect/>
          <a:stretch/>
        </p:blipFill>
        <p:spPr>
          <a:xfrm>
            <a:off x="8476795" y="5816906"/>
            <a:ext cx="3663950" cy="1017270"/>
          </a:xfrm>
          <a:prstGeom prst="rect">
            <a:avLst/>
          </a:prstGeom>
          <a:noFill/>
          <a:ln>
            <a:noFill/>
          </a:ln>
        </p:spPr>
      </p:pic>
      <p:sp>
        <p:nvSpPr>
          <p:cNvPr id="121" name="Google Shape;121;p5">
            <a:extLst>
              <a:ext uri="{FF2B5EF4-FFF2-40B4-BE49-F238E27FC236}">
                <a16:creationId xmlns:a16="http://schemas.microsoft.com/office/drawing/2014/main" id="{A68906C3-C67E-372F-96F0-7BC9366D6A95}"/>
              </a:ext>
            </a:extLst>
          </p:cNvPr>
          <p:cNvSpPr/>
          <p:nvPr/>
        </p:nvSpPr>
        <p:spPr>
          <a:xfrm>
            <a:off x="-23599" y="-5706"/>
            <a:ext cx="12215599" cy="660054"/>
          </a:xfrm>
          <a:prstGeom prst="rect">
            <a:avLst/>
          </a:prstGeom>
          <a:solidFill>
            <a:srgbClr val="1F39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Calibri"/>
                <a:ea typeface="Calibri"/>
                <a:cs typeface="Calibri"/>
                <a:sym typeface="Calibri"/>
              </a:rPr>
              <a:t>MAIL V/S IMAP:-</a:t>
            </a:r>
            <a:endParaRPr>
              <a:latin typeface="Calibri"/>
              <a:ea typeface="Calibri"/>
              <a:cs typeface="Calibri"/>
              <a:sym typeface="Calibri"/>
            </a:endParaRPr>
          </a:p>
        </p:txBody>
      </p:sp>
      <p:sp>
        <p:nvSpPr>
          <p:cNvPr id="3" name="TextBox 2">
            <a:extLst>
              <a:ext uri="{FF2B5EF4-FFF2-40B4-BE49-F238E27FC236}">
                <a16:creationId xmlns:a16="http://schemas.microsoft.com/office/drawing/2014/main" id="{81B8FA72-7D9C-284F-80E9-8DA78EE9DE67}"/>
              </a:ext>
            </a:extLst>
          </p:cNvPr>
          <p:cNvSpPr txBox="1"/>
          <p:nvPr/>
        </p:nvSpPr>
        <p:spPr>
          <a:xfrm>
            <a:off x="326570" y="979714"/>
            <a:ext cx="9982201" cy="369332"/>
          </a:xfrm>
          <a:prstGeom prst="rect">
            <a:avLst/>
          </a:prstGeom>
          <a:noFill/>
        </p:spPr>
        <p:txBody>
          <a:bodyPr wrap="square">
            <a:spAutoFit/>
          </a:bodyPr>
          <a:lstStyle/>
          <a:p>
            <a:pPr marL="342900" indent="-342900">
              <a:buAutoNum type="arabicPeriod"/>
            </a:pPr>
            <a:endParaRPr lang="en-IN" sz="180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C50D90AC-0730-0026-048D-8A90EB4C245D}"/>
              </a:ext>
            </a:extLst>
          </p:cNvPr>
          <p:cNvGraphicFramePr>
            <a:graphicFrameLocks noGrp="1"/>
          </p:cNvGraphicFramePr>
          <p:nvPr>
            <p:extLst>
              <p:ext uri="{D42A27DB-BD31-4B8C-83A1-F6EECF244321}">
                <p14:modId xmlns:p14="http://schemas.microsoft.com/office/powerpoint/2010/main" val="571642160"/>
              </p:ext>
            </p:extLst>
          </p:nvPr>
        </p:nvGraphicFramePr>
        <p:xfrm>
          <a:off x="147484" y="1592826"/>
          <a:ext cx="11206317" cy="3642909"/>
        </p:xfrm>
        <a:graphic>
          <a:graphicData uri="http://schemas.openxmlformats.org/drawingml/2006/table">
            <a:tbl>
              <a:tblPr/>
              <a:tblGrid>
                <a:gridCol w="3735439">
                  <a:extLst>
                    <a:ext uri="{9D8B030D-6E8A-4147-A177-3AD203B41FA5}">
                      <a16:colId xmlns:a16="http://schemas.microsoft.com/office/drawing/2014/main" val="1970065366"/>
                    </a:ext>
                  </a:extLst>
                </a:gridCol>
                <a:gridCol w="3735439">
                  <a:extLst>
                    <a:ext uri="{9D8B030D-6E8A-4147-A177-3AD203B41FA5}">
                      <a16:colId xmlns:a16="http://schemas.microsoft.com/office/drawing/2014/main" val="2169840100"/>
                    </a:ext>
                  </a:extLst>
                </a:gridCol>
                <a:gridCol w="3735439">
                  <a:extLst>
                    <a:ext uri="{9D8B030D-6E8A-4147-A177-3AD203B41FA5}">
                      <a16:colId xmlns:a16="http://schemas.microsoft.com/office/drawing/2014/main" val="1182659003"/>
                    </a:ext>
                  </a:extLst>
                </a:gridCol>
              </a:tblGrid>
              <a:tr h="449742">
                <a:tc>
                  <a:txBody>
                    <a:bodyPr/>
                    <a:lstStyle/>
                    <a:p>
                      <a:endParaRPr lang="en-IN"/>
                    </a:p>
                  </a:txBody>
                  <a:tcPr anchor="ctr">
                    <a:lnL>
                      <a:noFill/>
                    </a:lnL>
                    <a:lnR>
                      <a:noFill/>
                    </a:lnR>
                    <a:lnT>
                      <a:noFill/>
                    </a:lnT>
                    <a:lnB>
                      <a:noFill/>
                    </a:lnB>
                    <a:noFill/>
                  </a:tcPr>
                </a:tc>
                <a:tc>
                  <a:txBody>
                    <a:bodyPr/>
                    <a:lstStyle/>
                    <a:p>
                      <a:endParaRPr lang="en-IN"/>
                    </a:p>
                  </a:txBody>
                  <a:tcPr anchor="ctr">
                    <a:lnL>
                      <a:noFill/>
                    </a:lnL>
                    <a:lnR>
                      <a:noFill/>
                    </a:lnR>
                    <a:lnT>
                      <a:noFill/>
                    </a:lnT>
                    <a:lnB>
                      <a:noFill/>
                    </a:lnB>
                    <a:noFill/>
                  </a:tcPr>
                </a:tc>
                <a:tc>
                  <a:txBody>
                    <a:bodyPr/>
                    <a:lstStyle/>
                    <a:p>
                      <a:endParaRPr lang="en-IN"/>
                    </a:p>
                  </a:txBody>
                  <a:tcPr anchor="ctr">
                    <a:lnL>
                      <a:noFill/>
                    </a:lnL>
                    <a:lnR>
                      <a:noFill/>
                    </a:lnR>
                    <a:lnT>
                      <a:noFill/>
                    </a:lnT>
                    <a:lnB>
                      <a:noFill/>
                    </a:lnB>
                    <a:noFill/>
                  </a:tcPr>
                </a:tc>
                <a:extLst>
                  <a:ext uri="{0D108BD9-81ED-4DB2-BD59-A6C34878D82A}">
                    <a16:rowId xmlns:a16="http://schemas.microsoft.com/office/drawing/2014/main" val="1840230679"/>
                  </a:ext>
                </a:extLst>
              </a:tr>
              <a:tr h="449742">
                <a:tc>
                  <a:txBody>
                    <a:bodyPr/>
                    <a:lstStyle/>
                    <a:p>
                      <a:endParaRPr lang="en-IN"/>
                    </a:p>
                  </a:txBody>
                  <a:tcPr anchor="ctr">
                    <a:lnL>
                      <a:noFill/>
                    </a:lnL>
                    <a:lnR>
                      <a:noFill/>
                    </a:lnR>
                    <a:lnT>
                      <a:noFill/>
                    </a:lnT>
                    <a:lnB>
                      <a:noFill/>
                    </a:lnB>
                    <a:noFill/>
                  </a:tcPr>
                </a:tc>
                <a:tc>
                  <a:txBody>
                    <a:bodyPr/>
                    <a:lstStyle/>
                    <a:p>
                      <a:endParaRPr lang="en-IN"/>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3432629106"/>
                  </a:ext>
                </a:extLst>
              </a:tr>
              <a:tr h="764561">
                <a:tc>
                  <a:txBody>
                    <a:bodyPr/>
                    <a:lstStyle/>
                    <a:p>
                      <a:endParaRPr lang="en-IN"/>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3079970440"/>
                  </a:ext>
                </a:extLst>
              </a:tr>
              <a:tr h="449742">
                <a:tc>
                  <a:txBody>
                    <a:bodyPr/>
                    <a:lstStyle/>
                    <a:p>
                      <a:endParaRPr lang="en-IN"/>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4038449622"/>
                  </a:ext>
                </a:extLst>
              </a:tr>
              <a:tr h="764561">
                <a:tc>
                  <a:txBody>
                    <a:bodyPr/>
                    <a:lstStyle/>
                    <a:p>
                      <a:endParaRPr lang="en-IN"/>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3047577265"/>
                  </a:ext>
                </a:extLst>
              </a:tr>
              <a:tr h="764561">
                <a:tc>
                  <a:txBody>
                    <a:bodyPr/>
                    <a:lstStyle/>
                    <a:p>
                      <a:endParaRPr lang="en-IN"/>
                    </a:p>
                  </a:txBody>
                  <a:tcPr anchor="ctr">
                    <a:lnL>
                      <a:noFill/>
                    </a:lnL>
                    <a:lnR>
                      <a:noFill/>
                    </a:lnR>
                    <a:lnT>
                      <a:noFill/>
                    </a:lnT>
                    <a:lnB>
                      <a:noFill/>
                    </a:lnB>
                    <a:noFill/>
                  </a:tcPr>
                </a:tc>
                <a:tc>
                  <a:txBody>
                    <a:bodyPr/>
                    <a:lstStyle/>
                    <a:p>
                      <a:endParaRPr lang="en-IN"/>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333354208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7217179"/>
              </p:ext>
            </p:extLst>
          </p:nvPr>
        </p:nvGraphicFramePr>
        <p:xfrm>
          <a:off x="604685" y="1128521"/>
          <a:ext cx="9851571" cy="4506687"/>
        </p:xfrm>
        <a:graphic>
          <a:graphicData uri="http://schemas.openxmlformats.org/drawingml/2006/table">
            <a:tbl>
              <a:tblPr firstRow="1" bandRow="1">
                <a:tableStyleId>{073A0DAA-6AF3-43AB-8588-CEC1D06C72B9}</a:tableStyleId>
              </a:tblPr>
              <a:tblGrid>
                <a:gridCol w="2897521">
                  <a:extLst>
                    <a:ext uri="{9D8B030D-6E8A-4147-A177-3AD203B41FA5}">
                      <a16:colId xmlns:a16="http://schemas.microsoft.com/office/drawing/2014/main" val="20000"/>
                    </a:ext>
                  </a:extLst>
                </a:gridCol>
                <a:gridCol w="3477025">
                  <a:extLst>
                    <a:ext uri="{9D8B030D-6E8A-4147-A177-3AD203B41FA5}">
                      <a16:colId xmlns:a16="http://schemas.microsoft.com/office/drawing/2014/main" val="20001"/>
                    </a:ext>
                  </a:extLst>
                </a:gridCol>
                <a:gridCol w="3477025">
                  <a:extLst>
                    <a:ext uri="{9D8B030D-6E8A-4147-A177-3AD203B41FA5}">
                      <a16:colId xmlns:a16="http://schemas.microsoft.com/office/drawing/2014/main" val="20002"/>
                    </a:ext>
                  </a:extLst>
                </a:gridCol>
              </a:tblGrid>
              <a:tr h="676002">
                <a:tc>
                  <a:txBody>
                    <a:bodyPr/>
                    <a:lstStyle/>
                    <a:p>
                      <a:r>
                        <a:t>Feature</a:t>
                      </a:r>
                    </a:p>
                  </a:txBody>
                  <a:tcPr/>
                </a:tc>
                <a:tc>
                  <a:txBody>
                    <a:bodyPr/>
                    <a:lstStyle/>
                    <a:p>
                      <a:r>
                        <a:t>Mail Connector</a:t>
                      </a:r>
                    </a:p>
                  </a:txBody>
                  <a:tcPr/>
                </a:tc>
                <a:tc>
                  <a:txBody>
                    <a:bodyPr/>
                    <a:lstStyle/>
                    <a:p>
                      <a:r>
                        <a:t>IMAP (with SMTP)</a:t>
                      </a:r>
                    </a:p>
                  </a:txBody>
                  <a:tcPr/>
                </a:tc>
                <a:extLst>
                  <a:ext uri="{0D108BD9-81ED-4DB2-BD59-A6C34878D82A}">
                    <a16:rowId xmlns:a16="http://schemas.microsoft.com/office/drawing/2014/main" val="10000"/>
                  </a:ext>
                </a:extLst>
              </a:tr>
              <a:tr h="766137">
                <a:tc>
                  <a:txBody>
                    <a:bodyPr/>
                    <a:lstStyle/>
                    <a:p>
                      <a:r>
                        <a:t>Email Sending</a:t>
                      </a:r>
                    </a:p>
                  </a:txBody>
                  <a:tcPr/>
                </a:tc>
                <a:tc>
                  <a:txBody>
                    <a:bodyPr/>
                    <a:lstStyle/>
                    <a:p>
                      <a:r>
                        <a:t>Can send emails directly</a:t>
                      </a:r>
                    </a:p>
                  </a:txBody>
                  <a:tcPr/>
                </a:tc>
                <a:tc>
                  <a:txBody>
                    <a:bodyPr/>
                    <a:lstStyle/>
                    <a:p>
                      <a:r>
                        <a:t>Needs SMTP alongside IMAP to send</a:t>
                      </a:r>
                    </a:p>
                  </a:txBody>
                  <a:tcPr/>
                </a:tc>
                <a:extLst>
                  <a:ext uri="{0D108BD9-81ED-4DB2-BD59-A6C34878D82A}">
                    <a16:rowId xmlns:a16="http://schemas.microsoft.com/office/drawing/2014/main" val="10001"/>
                  </a:ext>
                </a:extLst>
              </a:tr>
              <a:tr h="766137">
                <a:tc>
                  <a:txBody>
                    <a:bodyPr/>
                    <a:lstStyle/>
                    <a:p>
                      <a:r>
                        <a:t>CC/BCC Support</a:t>
                      </a:r>
                    </a:p>
                  </a:txBody>
                  <a:tcPr/>
                </a:tc>
                <a:tc>
                  <a:txBody>
                    <a:bodyPr/>
                    <a:lstStyle/>
                    <a:p>
                      <a:r>
                        <a:t>Limited or no support for CC/BCC</a:t>
                      </a:r>
                    </a:p>
                  </a:txBody>
                  <a:tcPr/>
                </a:tc>
                <a:tc>
                  <a:txBody>
                    <a:bodyPr/>
                    <a:lstStyle/>
                    <a:p>
                      <a:r>
                        <a:t>Supported when using SMTP with proper setup</a:t>
                      </a:r>
                    </a:p>
                  </a:txBody>
                  <a:tcPr/>
                </a:tc>
                <a:extLst>
                  <a:ext uri="{0D108BD9-81ED-4DB2-BD59-A6C34878D82A}">
                    <a16:rowId xmlns:a16="http://schemas.microsoft.com/office/drawing/2014/main" val="10002"/>
                  </a:ext>
                </a:extLst>
              </a:tr>
              <a:tr h="766137">
                <a:tc>
                  <a:txBody>
                    <a:bodyPr/>
                    <a:lstStyle/>
                    <a:p>
                      <a:r>
                        <a:t>Reading Emails</a:t>
                      </a:r>
                    </a:p>
                  </a:txBody>
                  <a:tcPr/>
                </a:tc>
                <a:tc>
                  <a:txBody>
                    <a:bodyPr/>
                    <a:lstStyle/>
                    <a:p>
                      <a:r>
                        <a:t>Not designed for reading inbox</a:t>
                      </a:r>
                    </a:p>
                  </a:txBody>
                  <a:tcPr/>
                </a:tc>
                <a:tc>
                  <a:txBody>
                    <a:bodyPr/>
                    <a:lstStyle/>
                    <a:p>
                      <a:r>
                        <a:t>Designed to read emails from server</a:t>
                      </a:r>
                    </a:p>
                  </a:txBody>
                  <a:tcPr/>
                </a:tc>
                <a:extLst>
                  <a:ext uri="{0D108BD9-81ED-4DB2-BD59-A6C34878D82A}">
                    <a16:rowId xmlns:a16="http://schemas.microsoft.com/office/drawing/2014/main" val="10003"/>
                  </a:ext>
                </a:extLst>
              </a:tr>
              <a:tr h="766137">
                <a:tc>
                  <a:txBody>
                    <a:bodyPr/>
                    <a:lstStyle/>
                    <a:p>
                      <a:r>
                        <a:t>Sending Attachments</a:t>
                      </a:r>
                    </a:p>
                  </a:txBody>
                  <a:tcPr/>
                </a:tc>
                <a:tc>
                  <a:txBody>
                    <a:bodyPr/>
                    <a:lstStyle/>
                    <a:p>
                      <a:r>
                        <a:t>Attachments can be added and sent</a:t>
                      </a:r>
                    </a:p>
                  </a:txBody>
                  <a:tcPr/>
                </a:tc>
                <a:tc>
                  <a:txBody>
                    <a:bodyPr/>
                    <a:lstStyle/>
                    <a:p>
                      <a:r>
                        <a:t>Possible with SMTP, but not via IMAP alone</a:t>
                      </a:r>
                    </a:p>
                  </a:txBody>
                  <a:tcPr/>
                </a:tc>
                <a:extLst>
                  <a:ext uri="{0D108BD9-81ED-4DB2-BD59-A6C34878D82A}">
                    <a16:rowId xmlns:a16="http://schemas.microsoft.com/office/drawing/2014/main" val="10004"/>
                  </a:ext>
                </a:extLst>
              </a:tr>
              <a:tr h="766137">
                <a:tc>
                  <a:txBody>
                    <a:bodyPr/>
                    <a:lstStyle/>
                    <a:p>
                      <a:r>
                        <a:t>Reading Attachments</a:t>
                      </a:r>
                    </a:p>
                  </a:txBody>
                  <a:tcPr/>
                </a:tc>
                <a:tc>
                  <a:txBody>
                    <a:bodyPr/>
                    <a:lstStyle/>
                    <a:p>
                      <a:r>
                        <a:t>Usually not supported</a:t>
                      </a:r>
                    </a:p>
                  </a:txBody>
                  <a:tcPr/>
                </a:tc>
                <a:tc>
                  <a:txBody>
                    <a:bodyPr/>
                    <a:lstStyle/>
                    <a:p>
                      <a:r>
                        <a:t>Fully supported (downloadable from server)</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15800288"/>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3341465C-CE36-E4E6-1E0C-BF256819E1F2}"/>
            </a:ext>
          </a:extLst>
        </p:cNvPr>
        <p:cNvGrpSpPr/>
        <p:nvPr/>
      </p:nvGrpSpPr>
      <p:grpSpPr>
        <a:xfrm>
          <a:off x="0" y="0"/>
          <a:ext cx="0" cy="0"/>
          <a:chOff x="0" y="0"/>
          <a:chExt cx="0" cy="0"/>
        </a:xfrm>
      </p:grpSpPr>
      <p:sp>
        <p:nvSpPr>
          <p:cNvPr id="119" name="Google Shape;119;p5">
            <a:extLst>
              <a:ext uri="{FF2B5EF4-FFF2-40B4-BE49-F238E27FC236}">
                <a16:creationId xmlns:a16="http://schemas.microsoft.com/office/drawing/2014/main" id="{5E657F04-608D-71E9-7BEB-45B8042C94D7}"/>
              </a:ext>
            </a:extLst>
          </p:cNvPr>
          <p:cNvSpPr txBox="1">
            <a:spLocks noGrp="1"/>
          </p:cNvSpPr>
          <p:nvPr>
            <p:ph type="body" idx="1"/>
          </p:nvPr>
        </p:nvSpPr>
        <p:spPr>
          <a:xfrm>
            <a:off x="-1" y="654348"/>
            <a:ext cx="12192001" cy="5549303"/>
          </a:xfrm>
          <a:prstGeom prst="rect">
            <a:avLst/>
          </a:prstGeom>
          <a:noFill/>
          <a:ln>
            <a:noFill/>
          </a:ln>
        </p:spPr>
        <p:txBody>
          <a:bodyPr spcFirstLastPara="1" wrap="square" lIns="91425" tIns="45700" rIns="91425" bIns="45700" anchor="t" anchorCtr="0">
            <a:noAutofit/>
          </a:bodyPr>
          <a:lstStyle/>
          <a:p>
            <a:pPr marL="228600" lvl="0" indent="0" algn="l" rtl="0">
              <a:lnSpc>
                <a:spcPct val="150000"/>
              </a:lnSpc>
              <a:spcBef>
                <a:spcPts val="1000"/>
              </a:spcBef>
              <a:spcAft>
                <a:spcPts val="0"/>
              </a:spcAft>
              <a:buNone/>
            </a:pPr>
            <a:endParaRPr sz="2400">
              <a:solidFill>
                <a:srgbClr val="3F739B"/>
              </a:solidFill>
              <a:latin typeface="Times New Roman"/>
              <a:ea typeface="Times New Roman"/>
              <a:cs typeface="Times New Roman"/>
              <a:sym typeface="Times New Roman"/>
            </a:endParaRPr>
          </a:p>
          <a:p>
            <a:pPr marL="228600" lvl="0" indent="-60960" algn="l" rtl="0">
              <a:lnSpc>
                <a:spcPct val="150000"/>
              </a:lnSpc>
              <a:spcBef>
                <a:spcPts val="1000"/>
              </a:spcBef>
              <a:spcAft>
                <a:spcPts val="0"/>
              </a:spcAft>
              <a:buClr>
                <a:schemeClr val="dk1"/>
              </a:buClr>
              <a:buSzPts val="2640"/>
              <a:buFont typeface="Noto Sans Symbols"/>
              <a:buNone/>
            </a:pPr>
            <a:endParaRPr sz="2400">
              <a:solidFill>
                <a:srgbClr val="3F739B"/>
              </a:solidFill>
              <a:latin typeface="Times New Roman"/>
              <a:ea typeface="Times New Roman"/>
              <a:cs typeface="Times New Roman"/>
              <a:sym typeface="Times New Roman"/>
            </a:endParaRPr>
          </a:p>
        </p:txBody>
      </p:sp>
      <p:pic>
        <p:nvPicPr>
          <p:cNvPr id="120" name="Google Shape;120;p5">
            <a:extLst>
              <a:ext uri="{FF2B5EF4-FFF2-40B4-BE49-F238E27FC236}">
                <a16:creationId xmlns:a16="http://schemas.microsoft.com/office/drawing/2014/main" id="{51C9E455-0701-E5E6-31CD-5F4FC0FE4925}"/>
              </a:ext>
            </a:extLst>
          </p:cNvPr>
          <p:cNvPicPr preferRelativeResize="0"/>
          <p:nvPr/>
        </p:nvPicPr>
        <p:blipFill rotWithShape="1">
          <a:blip r:embed="rId3">
            <a:alphaModFix/>
          </a:blip>
          <a:srcRect/>
          <a:stretch/>
        </p:blipFill>
        <p:spPr>
          <a:xfrm>
            <a:off x="8767535" y="6203651"/>
            <a:ext cx="3663950" cy="1017270"/>
          </a:xfrm>
          <a:prstGeom prst="rect">
            <a:avLst/>
          </a:prstGeom>
          <a:noFill/>
          <a:ln>
            <a:noFill/>
          </a:ln>
        </p:spPr>
      </p:pic>
      <p:sp>
        <p:nvSpPr>
          <p:cNvPr id="121" name="Google Shape;121;p5">
            <a:extLst>
              <a:ext uri="{FF2B5EF4-FFF2-40B4-BE49-F238E27FC236}">
                <a16:creationId xmlns:a16="http://schemas.microsoft.com/office/drawing/2014/main" id="{F315E182-2E02-FC3D-1AFA-9ADDC0CA327C}"/>
              </a:ext>
            </a:extLst>
          </p:cNvPr>
          <p:cNvSpPr/>
          <p:nvPr/>
        </p:nvSpPr>
        <p:spPr>
          <a:xfrm>
            <a:off x="-23599" y="-5706"/>
            <a:ext cx="12215599" cy="660054"/>
          </a:xfrm>
          <a:prstGeom prst="rect">
            <a:avLst/>
          </a:prstGeom>
          <a:solidFill>
            <a:srgbClr val="1F39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kumimoji="0" lang="en-IN" sz="4400" b="0" i="0" u="none" strike="noStrike" kern="1200" cap="none" spc="0" normalizeH="0" baseline="0" noProof="0">
                <a:ln>
                  <a:noFill/>
                </a:ln>
                <a:solidFill>
                  <a:schemeClr val="bg1"/>
                </a:solidFill>
                <a:effectLst/>
                <a:uLnTx/>
                <a:uFillTx/>
                <a:latin typeface="Calibri"/>
                <a:ea typeface="+mj-ea"/>
                <a:cs typeface="+mj-cs"/>
              </a:rPr>
              <a:t>Challenges and Tips</a:t>
            </a:r>
            <a:endParaRPr>
              <a:solidFill>
                <a:schemeClr val="bg1"/>
              </a:solidFill>
              <a:latin typeface="Calibri"/>
              <a:ea typeface="Calibri"/>
              <a:cs typeface="Calibri"/>
              <a:sym typeface="Calibri"/>
            </a:endParaRPr>
          </a:p>
        </p:txBody>
      </p:sp>
      <p:sp>
        <p:nvSpPr>
          <p:cNvPr id="3" name="TextBox 2">
            <a:extLst>
              <a:ext uri="{FF2B5EF4-FFF2-40B4-BE49-F238E27FC236}">
                <a16:creationId xmlns:a16="http://schemas.microsoft.com/office/drawing/2014/main" id="{75055C56-DC0E-94EE-376A-1FFE674EF700}"/>
              </a:ext>
            </a:extLst>
          </p:cNvPr>
          <p:cNvSpPr txBox="1"/>
          <p:nvPr/>
        </p:nvSpPr>
        <p:spPr>
          <a:xfrm>
            <a:off x="326570" y="979714"/>
            <a:ext cx="9982201" cy="2948499"/>
          </a:xfrm>
          <a:prstGeom prst="rect">
            <a:avLst/>
          </a:prstGeom>
          <a:noFill/>
        </p:spPr>
        <p:txBody>
          <a:bodyPr wrap="square">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prstClr val="black"/>
                </a:solidFill>
                <a:effectLst/>
                <a:uLnTx/>
                <a:uFillTx/>
                <a:latin typeface="Calibri"/>
                <a:ea typeface="+mn-ea"/>
                <a:cs typeface="+mn-cs"/>
              </a:rPr>
              <a:t>Common issues: wrong port, authentication errors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prstClr val="black"/>
                </a:solidFill>
                <a:effectLst/>
                <a:uLnTx/>
                <a:uFillTx/>
                <a:latin typeface="Calibri"/>
                <a:ea typeface="+mn-ea"/>
                <a:cs typeface="+mn-cs"/>
              </a:rPr>
              <a:t>Best practices:</a:t>
            </a:r>
          </a:p>
          <a:p>
            <a:pPr lvl="1" defTabSz="457200">
              <a:spcBef>
                <a:spcPct val="20000"/>
              </a:spcBef>
              <a:buClrTx/>
              <a:defRPr/>
            </a:pPr>
            <a:r>
              <a:rPr kumimoji="0" lang="en-US" sz="3200" b="0" i="0" u="none" strike="noStrike" kern="1200" cap="none" spc="0" normalizeH="0" baseline="0" noProof="0">
                <a:ln>
                  <a:noFill/>
                </a:ln>
                <a:solidFill>
                  <a:prstClr val="black"/>
                </a:solidFill>
                <a:effectLst/>
                <a:uLnTx/>
                <a:uFillTx/>
                <a:latin typeface="Calibri"/>
                <a:ea typeface="+mn-ea"/>
                <a:cs typeface="+mn-cs"/>
              </a:rPr>
              <a:t>	- Use environment extensions</a:t>
            </a:r>
          </a:p>
          <a:p>
            <a:pPr lvl="1" defTabSz="457200">
              <a:spcBef>
                <a:spcPct val="20000"/>
              </a:spcBef>
              <a:buClrTx/>
              <a:defRPr/>
            </a:pPr>
            <a:r>
              <a:rPr lang="en-US" sz="3200" kern="1200">
                <a:solidFill>
                  <a:prstClr val="black"/>
                </a:solidFill>
                <a:latin typeface="Calibri"/>
                <a:ea typeface="+mn-ea"/>
                <a:cs typeface="+mn-cs"/>
              </a:rPr>
              <a:t>	</a:t>
            </a:r>
            <a:r>
              <a:rPr kumimoji="0" lang="en-US" sz="3200" b="0" i="0" u="none" strike="noStrike" kern="1200" cap="none" spc="0" normalizeH="0" baseline="0" noProof="0">
                <a:ln>
                  <a:noFill/>
                </a:ln>
                <a:solidFill>
                  <a:prstClr val="black"/>
                </a:solidFill>
                <a:effectLst/>
                <a:uLnTx/>
                <a:uFillTx/>
                <a:latin typeface="Calibri"/>
                <a:ea typeface="+mn-ea"/>
                <a:cs typeface="+mn-cs"/>
              </a:rPr>
              <a:t>- Test with dummy mailboxes</a:t>
            </a:r>
          </a:p>
          <a:p>
            <a:pPr lvl="1" defTabSz="457200">
              <a:spcBef>
                <a:spcPct val="20000"/>
              </a:spcBef>
              <a:buClrTx/>
              <a:defRPr/>
            </a:pPr>
            <a:r>
              <a:rPr kumimoji="0" lang="en-US" sz="3200" b="0" i="0" u="none" strike="noStrike" kern="1200" cap="none" spc="0" normalizeH="0" baseline="0" noProof="0">
                <a:ln>
                  <a:noFill/>
                </a:ln>
                <a:solidFill>
                  <a:prstClr val="black"/>
                </a:solidFill>
                <a:effectLst/>
                <a:uLnTx/>
                <a:uFillTx/>
                <a:latin typeface="Calibri"/>
                <a:ea typeface="+mn-ea"/>
                <a:cs typeface="+mn-cs"/>
              </a:rPr>
              <a:t>	- Validate filters</a:t>
            </a:r>
          </a:p>
        </p:txBody>
      </p:sp>
    </p:spTree>
    <p:extLst>
      <p:ext uri="{BB962C8B-B14F-4D97-AF65-F5344CB8AC3E}">
        <p14:creationId xmlns:p14="http://schemas.microsoft.com/office/powerpoint/2010/main" val="584581243"/>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pic>
        <p:nvPicPr>
          <p:cNvPr id="133" name="Google Shape;133;p7"/>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12</a:t>
            </a:fld>
            <a:endParaRPr/>
          </a:p>
        </p:txBody>
      </p:sp>
      <p:pic>
        <p:nvPicPr>
          <p:cNvPr id="139" name="Google Shape;139;p8"/>
          <p:cNvPicPr preferRelativeResize="0"/>
          <p:nvPr/>
        </p:nvPicPr>
        <p:blipFill rotWithShape="1">
          <a:blip r:embed="rId3">
            <a:alphaModFix/>
          </a:blip>
          <a:srcRect/>
          <a:stretch/>
        </p:blipFill>
        <p:spPr>
          <a:xfrm>
            <a:off x="761" y="428"/>
            <a:ext cx="12191239" cy="685757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12</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Sumit Aggarwal</dc:creator>
  <cp:revision>2</cp:revision>
  <dcterms:created xsi:type="dcterms:W3CDTF">2020-10-07T08:30:00Z</dcterms:created>
  <dcterms:modified xsi:type="dcterms:W3CDTF">2025-11-24T13:39:24Z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3F1DA8AD00D3489891A352DA5FC22A94</vt:lpwstr>
  </property>
  <property fmtid="{D5CDD505-2E9C-101B-9397-08002B2CF9AE}" pid="3" name="KSOProductBuildVer">
    <vt:lpwstr>1033-11.2.0.11516</vt:lpwstr>
  </property>
</Properties>
</file>